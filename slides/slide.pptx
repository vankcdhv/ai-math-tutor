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đề tài và nhóm. Nói rõ mọi con số trong slide được sinh tự động từ tệp kết quả thô. Ma trận đã chạy xong; ô nào còn ghi 'chưa có số liệu' là kết quả chấm của hai thành viên nhóm đang chờ.</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bằng tình huống: giáo viên muốn biết ngay học sinh nào đang bế tắc. Batch theo ngày thì biết muộn; streaming thì phải xử lý sự kiện trùng, muộn, sai thứ tự. Đọc ba câu hỏi nghiên cứu.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mạnh: khó khăn là tốc độ đến và độ đúng chứ không phải dung lượng. Dữ liệu là mô phỏng có ground truth, không có người thật. Kho bài: 1260 bài; rà soát lời giải của hai thành viên nhóm: đạt chung [chưa có số liệu: docs/manual-review/round-2/summary.md]. (Người trả lời vấn đáp phần này: TV6, TV7.)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 từ trái sang phải. Đường luồng (xanh) cập nhật trạng thái theo micro-batch; đường nhanh (cam) trả gợi ý đồng bộ và chỉ đọc Redis, nên gợi ý không phải chờ micro-batch. Runner điều phối mỗi run và ghi một dòng run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từng ô. Key Kafka là learner_id nên mọi sự kiện của một người vào cùng partition. Ba chế độ: eager áp ngay, ordered đệm tới watermark, none không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store của Spark là exactly-once nhưng foreachBatch có thể chạy lại. Vì vậy mọi lần ghi đều idempotent. Sau mỗi run, oracle áp lại đúng các sự kiện đã nhận bằng cùng hàm luật để so với Redis. Minh chứng restart: Giết job giữa micro-batch rồi chạy lại: khớp oracle 558/558 (100%), áp hai lần 0, cảnh báo trùng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dùng mô hình ngôn ngữ lúc chạy. Mọi biểu thức là bước đã kiểm SymPy. Bước lộ đáp án bị khóa tới khi người học sai đáp án cuối hai lần; thiếu trạng thái thì chỉ cho bậc 1 (fail-closed). Template là nhánh đối chứng không cá nhân hóa.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trận 115 run, đăng ký trước giao thức thống kê: mỗi cấu hình 3 seed, báo trung vị và min–max, không p-value. Bỏ 60 s khởi động. Đã chạy 115/115 run. Ma trận MapReduce riêng: 3 quy mô × 2 cấu hình tài nguyên × 3 lần lặp. Máy: Intel(R) Core(TM) i9-14900K.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phát hiện tính từ event_time của sự kiện khởi phát, cùng mốc cho batch và streaming. Batch ngày 62.947 s (61.267–80.977); streaming ASAP 3,84 s (3,81–4,03); tỉ số 16.388× (15.195–21.237). Cái giá: một tiến trình Spark chạy liên tục. (Người trả lời vấn đáp phần này: TV4.)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 A: P95 độ trễ cập nhật trạng thái ở 1K ev/s là 4,25 s (4,07–4,54), SLO 5 s. Tốc độ bền vững cao nhất quan sát được 10.000 ev/s (lag không tăng nhưng vượt SLO; cao nhất trong SLO: 1.000 ev/s). Nhận định 'đạt SLO 5 s ở 1.000 ev/s với P = 3 hoặc 6' chỉ đúng cho các run 10 phút: chạy 30 phút (soak) thì cấu hình mặc định không giữ được SLO. Exp B: P95 độ trễ hệ thống 1,78 s (1,76–1,80) ở 100, 4,25 s (4,07–4,54) ở 1.000, 38,08 s (37,92–38,40) ở 10.000 người học; ở 10.000 người học 0/3 run đạt SLO 5 s. Một máy: tăng partition đo song song hóa, không đo mở rộng ngang. (Người trả lời vấn đáp phần này: TV1, TV3.)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Trễ high, W = 2 phút: khớp oracle 80,8% (80,2–80,8) (eager) và 100,0% (100,0–100,0) (ordered). W = 30 s: bị loại 8,64% (8,58–8,70) ở cellular và 0,85% (0,82–0,86) ở wifi. Nếu có chênh lệch, đó là do cách xử lý sự kiện muộn chứ không do người học, nên lát cắt theo kết nối luôn đi cùng chỉ số độ đúng. (Người trả lời vấn đáp phần này: TV1.)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do hai thành viên nhóm chấm mù theo rubric năm nhãn. Hint validity [chưa có số liệu: docs/hint-audit/summary.md], [chưa có số liệu: docs/hint-audit/summary.md]. Ladder [chưa có số liệu: docs/hint-audit/summary.md], template [chưa có số liệu: docs/hint-audit/summary.md]. Landis–Koch chỉ là quy ước. API P95 ở 100 người dùng 4,9 ms (4,9–5,4). (Người trả lời vấn đáp phần này: TV2, TV4.)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ablation đổi đúng một yếu tố quanh cấu hình mặc định, cùng dữ liệu và seed: khớp oracle 93,1% (93,1–93,9) ở cấu hình mặc định, 21,1% (20,9–21,2) khi tắt khử trùng, 100,0% (100,0–100,0) với ordered (P95 136,85 s (136,53–137,10)) và 93,2% (93,1–93,8) với BKT. Soak 30 phút: P95 độ trễ hệ thống 5,04 s (n = 1) (đạt SLO cả run: 0/1 run), 54,7% (n = 1) số cửa sổ một phút có P95 vượt 5 s, RSS driver tăng 108 MB/phút (n = 1) (5 phút cuối / 5 phút đầu: 1,73× (n = 1)). Nhận định 'đạt SLO 5 s ở 1.000 ev/s với P = 3 hoặc 6' chỉ đúng cho các run 10 phút: chạy 30 phút (soak) thì cấu hình mặc định không giữ được SLO. RSS tăng là rủi ro đã quan sát, chưa xác định nguyên nhân. Trần ingestion: 6/6 ô giữ được tốc độ mục tiêu; cao nhất đạt 60.255 ev/s (mục tiêu 60.000 ev/s, 4 tiến trình gửi), nên trần nằm trên mức cao nhất đã thử (60.000 ev/s). (Người trả lời vấn đáp phần này: TV1, TV4.)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 theo thiết kế MapReduce của nhóm (khóa learner_id, bộ đếm theo người học × bài, top-K), chạy bằng Spark RDD trên một máy, không có Hadoop/HDFS/YARN. 3 quy mô × 2 cấu hình tài nguyên × 3 lần lặp: ở 10.000 người học (1.256.768 lần giao), job xong trong 15,10 s (15,04–15,16) với Config A và 8,45 s (8,40–8,58) với Config B (A/B = 1,79× (1,75–1,80)), throughput B 148.730 (146.476–149.633) lần giao/s; 18/18 run khớp chính xác bản tham chiếu tuần tự và số đếm của bộ mô phỏng. Shuffle giữa hai executor đi qua loopback nên mạng vật lý không đo được; lặp lại trên cùng dữ liệu; không chủ động giết worker. (Người trả lời vấn đáp phần này: TV3.)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Bút danh không phải ẩn danh. Ngưỡng k = 5 và làm tròn chỉ cho khoảng, không bằng differential privacy. Cảnh báo bế tắc có thể bị dùng để dán nhãn học sinh nên chỉ ở chế độ giáo viên.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thẳng các hạn chế. Chấm mù không hoàn hảo vì văn phong ladder để lộ nguồn. Thay đổi bộ sinh sau vòng hiệu chỉnh (commit 884280f) được ghi vào giao thức trước vòng chính. 2 run đầu chạy nhầm kho bài mini bị loại khỏi kết quả. Nhận định 'đạt SLO 5 s ở 1.000 ev/s với P = 3 hoặc 6' chỉ đúng cho các run 10 phút: chạy 30 phút (soak) thì cấu hình mặc định không giữ được SLO.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Chạy demo theo thứ tự trên màn hình. Nếu Docker lỗi, phát lại từ tệp log đã ghi và mở dashboard trên dữ liệu đó. Thời lượng dưới 10 phút. (Người trả lời vấn đáp phần này: TV5.)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ba câu trả lời và nhấn mạnh tính tái lập: mọi số sinh lại được bằng một lệnh từ results/raw. Nói rõ giới hạn: Nhận định 'đạt SLO 5 s ở 1.000 ev/s với P = 3 hoặc 6' chỉ đúng cho các run 10 phút: chạy 30 phút (soak) thì cấu hình mặc định không giữ được SLO.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Mời đặt câu hỏi. Câu hỏi thường gặp và gợi ý trả lời: docs/cau-hoi-bao-ve.md.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645920"/>
          </a:xfrm>
          <a:prstGeom prst="rect">
            <a:avLst/>
          </a:prstGeom>
          <a:noFill/>
        </p:spPr>
        <p:txBody>
          <a:bodyPr wrap="square">
            <a:spAutoFit/>
          </a:bodyPr>
          <a:lstStyle/>
          <a:p>
            <a:r>
              <a:rPr sz="3400" b="1">
                <a:solidFill>
                  <a:srgbClr val="FFFFFF"/>
                </a:solidFill>
                <a:latin typeface="Segoe UI"/>
              </a:rPr>
              <a:t>Theo dõi trạng thái người học thời gian thực và gợi ý toán có kiểm chứng</a:t>
            </a:r>
          </a:p>
        </p:txBody>
      </p:sp>
      <p:sp>
        <p:nvSpPr>
          <p:cNvPr id="4" name="TextBox 3"/>
          <p:cNvSpPr txBox="1"/>
          <p:nvPr/>
        </p:nvSpPr>
        <p:spPr>
          <a:xfrm>
            <a:off x="731520" y="3566160"/>
            <a:ext cx="10698480" cy="914400"/>
          </a:xfrm>
          <a:prstGeom prst="rect">
            <a:avLst/>
          </a:prstGeom>
          <a:noFill/>
        </p:spPr>
        <p:txBody>
          <a:bodyPr wrap="square">
            <a:spAutoFit/>
          </a:bodyPr>
          <a:lstStyle/>
          <a:p>
            <a:r>
              <a:rPr sz="2000" b="0">
                <a:solidFill>
                  <a:srgbClr val="DDE6F2"/>
                </a:solidFill>
                <a:latin typeface="Segoe UI"/>
              </a:rPr>
              <a:t>Nhóm 8 — AI Math Tutor: phân tích luồng học tập và phản hồi toán có kiểm chứng</a:t>
            </a:r>
          </a:p>
        </p:txBody>
      </p:sp>
      <p:sp>
        <p:nvSpPr>
          <p:cNvPr id="5" name="TextBox 4"/>
          <p:cNvSpPr txBox="1"/>
          <p:nvPr/>
        </p:nvSpPr>
        <p:spPr>
          <a:xfrm>
            <a:off x="731520" y="5669280"/>
            <a:ext cx="10698480" cy="548640"/>
          </a:xfrm>
          <a:prstGeom prst="rect">
            <a:avLst/>
          </a:prstGeom>
          <a:noFill/>
        </p:spPr>
        <p:txBody>
          <a:bodyPr wrap="square">
            <a:spAutoFit/>
          </a:bodyPr>
          <a:lstStyle/>
          <a:p>
            <a:r>
              <a:rPr sz="1400" b="0">
                <a:solidFill>
                  <a:srgbClr val="DDE6F2"/>
                </a:solidFill>
                <a:latin typeface="Segoe UI"/>
              </a:rPr>
              <a:t>INT4418 Dữ liệu lớn · số liệu sinh từ results/raw (115/115 run của ma trận)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Bài toán và câu hỏi nghiên cứu</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Gia sư cần biết người học bế tắc ngay khi xảy ra, không phải sáng hôm sau</a:t>
            </a:r>
          </a:p>
          <a:p>
            <a:pPr>
              <a:spcAft>
                <a:spcPts val="800"/>
              </a:spcAft>
            </a:pPr>
            <a:r>
              <a:rPr sz="2100" b="0">
                <a:solidFill>
                  <a:srgbClr val="222222"/>
                </a:solidFill>
                <a:latin typeface="Segoe UI"/>
              </a:rPr>
              <a:t>•  Sự kiện học tập đến liên tục, có bản trùng, bản muộn, đảo thứ tự</a:t>
            </a:r>
          </a:p>
          <a:p>
            <a:pPr>
              <a:spcAft>
                <a:spcPts val="800"/>
              </a:spcAft>
            </a:pPr>
            <a:r>
              <a:rPr sz="2100" b="1">
                <a:solidFill>
                  <a:srgbClr val="C0612B"/>
                </a:solidFill>
                <a:latin typeface="Segoe UI"/>
              </a:rPr>
              <a:t>•  RQ1: streaming rút ngắn thời gian phát hiện bế tắc bao nhiêu so với batch, tốn thêm bao nhiêu?</a:t>
            </a:r>
          </a:p>
          <a:p>
            <a:pPr>
              <a:spcAft>
                <a:spcPts val="800"/>
              </a:spcAft>
            </a:pPr>
            <a:r>
              <a:rPr sz="2100" b="1">
                <a:solidFill>
                  <a:srgbClr val="C0612B"/>
                </a:solidFill>
                <a:latin typeface="Segoe UI"/>
              </a:rPr>
              <a:t>•  RQ2: gợi ý có đúng toán, có ích, đủ nhanh không?</a:t>
            </a:r>
          </a:p>
          <a:p>
            <a:pPr>
              <a:spcAft>
                <a:spcPts val="800"/>
              </a:spcAft>
            </a:pPr>
            <a:r>
              <a:rPr sz="2100" b="1">
                <a:solidFill>
                  <a:srgbClr val="C0612B"/>
                </a:solidFill>
                <a:latin typeface="Segoe UI"/>
              </a:rPr>
              <a:t>•  RQ3: watermark và khử trùng ảnh hưởng độ đúng thế nào; người dùng mạng di động có bị thiệt?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Nút thắt Big Data và dữ liệu</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TV6, TV7</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2</a:t>
            </a:r>
          </a:p>
        </p:txBody>
      </p:sp>
      <p:sp>
        <p:nvSpPr>
          <p:cNvPr id="6" name="TextBox 5"/>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Nút thắt: tốc độ đến và độ đúng, không phải dung lượng</a:t>
            </a:r>
          </a:p>
          <a:p>
            <a:pPr lvl="1">
              <a:spcAft>
                <a:spcPts val="800"/>
              </a:spcAft>
            </a:pPr>
            <a:r>
              <a:rPr sz="1800" b="0">
                <a:solidFill>
                  <a:srgbClr val="222222"/>
                </a:solidFill>
                <a:latin typeface="Segoe UI"/>
              </a:rPr>
              <a:t>–  Trạng thái phụ thuộc thứ tự; phải chịu lỗi khi job chết; phải giữ P95 thấp</a:t>
            </a:r>
          </a:p>
          <a:p>
            <a:pPr>
              <a:spcAft>
                <a:spcPts val="800"/>
              </a:spcAft>
            </a:pPr>
            <a:r>
              <a:rPr sz="2100" b="0">
                <a:solidFill>
                  <a:srgbClr val="222222"/>
                </a:solidFill>
                <a:latin typeface="Segoe UI"/>
              </a:rPr>
              <a:t>•  Sự kiện mô phỏng có ground truth (BKT ẩn, wifi/cellular, muộn và trùng có tham số)</a:t>
            </a:r>
          </a:p>
          <a:p>
            <a:pPr>
              <a:spcAft>
                <a:spcPts val="800"/>
              </a:spcAft>
            </a:pPr>
            <a:r>
              <a:rPr sz="2100" b="0">
                <a:solidFill>
                  <a:srgbClr val="222222"/>
                </a:solidFill>
                <a:latin typeface="Segoe UI"/>
              </a:rPr>
              <a:t>•  Kho bài v2: 1260 bài NuminaMath-CoT (Apache-2.0), mọi bước giải đã kiểm SymPy</a:t>
            </a:r>
          </a:p>
          <a:p>
            <a:pPr>
              <a:spcAft>
                <a:spcPts val="800"/>
              </a:spcAft>
            </a:pPr>
            <a:r>
              <a:rPr sz="2100" b="0">
                <a:solidFill>
                  <a:srgbClr val="222222"/>
                </a:solidFill>
                <a:latin typeface="Segoe UI"/>
              </a:rPr>
              <a:t>•  Rà soát lời giải (hai thành viên nhóm): đạt chung [chưa có số liệu: summary.md], κ = [chưa có số liệu: summary.md]</a:t>
            </a:r>
          </a:p>
          <a:p>
            <a:pPr>
              <a:spcAft>
                <a:spcPts val="800"/>
              </a:spcAft>
            </a:pPr>
            <a:r>
              <a:rPr sz="2100" b="0">
                <a:solidFill>
                  <a:srgbClr val="222222"/>
                </a:solidFill>
                <a:latin typeface="Segoe UI"/>
              </a:rPr>
              <a:t>•  Không có dữ liệu người thật; learner_id là bút danh HMAC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Kiến trúc: hai đường xử lý</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3</a:t>
            </a:r>
          </a:p>
        </p:txBody>
      </p:sp>
      <p:pic>
        <p:nvPicPr>
          <p:cNvPr id="5" name="Picture 4" descr="h1-architecture.png"/>
          <p:cNvPicPr>
            <a:picLocks noChangeAspect="1"/>
          </p:cNvPicPr>
          <p:nvPr/>
        </p:nvPicPr>
        <p:blipFill>
          <a:blip r:embed="rId3"/>
          <a:stretch>
            <a:fillRect/>
          </a:stretch>
        </p:blipFill>
        <p:spPr>
          <a:xfrm>
            <a:off x="548640" y="1051560"/>
            <a:ext cx="10607040" cy="525112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Pipeline luồng: từ sự kiện tới trạng thái</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4</a:t>
            </a:r>
          </a:p>
        </p:txBody>
      </p:sp>
      <p:sp>
        <p:nvSpPr>
          <p:cNvPr id="5" name="Rounded Rectangle 4"/>
          <p:cNvSpPr/>
          <p:nvPr/>
        </p:nvSpPr>
        <p:spPr>
          <a:xfrm>
            <a:off x="457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Bộ phát lại</a:t>
            </a:r>
          </a:p>
        </p:txBody>
      </p:sp>
      <p:sp>
        <p:nvSpPr>
          <p:cNvPr id="6" name="Rounded Rectangle 5"/>
          <p:cNvSpPr/>
          <p:nvPr/>
        </p:nvSpPr>
        <p:spPr>
          <a:xfrm>
            <a:off x="457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open-loop, đúng lịch</a:t>
            </a:r>
          </a:p>
          <a:p>
            <a:pPr algn="ctr"/>
            <a:r>
              <a:rPr sz="1400" b="0">
                <a:solidFill>
                  <a:srgbClr val="222222"/>
                </a:solidFill>
                <a:latin typeface="Segoe UI"/>
              </a:rPr>
              <a:t>key = learner_id</a:t>
            </a:r>
          </a:p>
          <a:p>
            <a:pPr algn="ctr"/>
            <a:r>
              <a:rPr sz="1400" b="0">
                <a:solidFill>
                  <a:srgbClr val="222222"/>
                </a:solidFill>
                <a:latin typeface="Segoe UI"/>
              </a:rPr>
              <a:t>producer idempotent</a:t>
            </a:r>
          </a:p>
        </p:txBody>
      </p:sp>
      <p:sp>
        <p:nvSpPr>
          <p:cNvPr id="7" name="Rounded Rectangle 6"/>
          <p:cNvSpPr/>
          <p:nvPr/>
        </p:nvSpPr>
        <p:spPr>
          <a:xfrm>
            <a:off x="2743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Kafka</a:t>
            </a:r>
          </a:p>
        </p:txBody>
      </p:sp>
      <p:sp>
        <p:nvSpPr>
          <p:cNvPr id="8" name="Rounded Rectangle 7"/>
          <p:cNvSpPr/>
          <p:nvPr/>
        </p:nvSpPr>
        <p:spPr>
          <a:xfrm>
            <a:off x="2743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learner-events</a:t>
            </a:r>
          </a:p>
          <a:p>
            <a:pPr algn="ctr"/>
            <a:r>
              <a:rPr sz="1400" b="0">
                <a:solidFill>
                  <a:srgbClr val="222222"/>
                </a:solidFill>
                <a:latin typeface="Segoe UI"/>
              </a:rPr>
              <a:t>heartbeat đẩy</a:t>
            </a:r>
          </a:p>
          <a:p>
            <a:pPr algn="ctr"/>
            <a:r>
              <a:rPr sz="1400" b="0">
                <a:solidFill>
                  <a:srgbClr val="222222"/>
                </a:solidFill>
                <a:latin typeface="Segoe UI"/>
              </a:rPr>
              <a:t>watermark cuối log</a:t>
            </a:r>
          </a:p>
        </p:txBody>
      </p:sp>
      <p:sp>
        <p:nvSpPr>
          <p:cNvPr id="9" name="Rounded Rectangle 8"/>
          <p:cNvSpPr/>
          <p:nvPr/>
        </p:nvSpPr>
        <p:spPr>
          <a:xfrm>
            <a:off x="5029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Spark</a:t>
            </a:r>
          </a:p>
        </p:txBody>
      </p:sp>
      <p:sp>
        <p:nvSpPr>
          <p:cNvPr id="10" name="Rounded Rectangle 9"/>
          <p:cNvSpPr/>
          <p:nvPr/>
        </p:nvSpPr>
        <p:spPr>
          <a:xfrm>
            <a:off x="5029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kiểm hợp đồng → dead-letter</a:t>
            </a:r>
          </a:p>
          <a:p>
            <a:pPr algn="ctr"/>
            <a:r>
              <a:rPr sz="1400" b="0">
                <a:solidFill>
                  <a:srgbClr val="222222"/>
                </a:solidFill>
                <a:latin typeface="Segoe UI"/>
              </a:rPr>
              <a:t>watermark W</a:t>
            </a:r>
          </a:p>
          <a:p>
            <a:pPr algn="ctr"/>
            <a:r>
              <a:rPr sz="1400" b="0">
                <a:solidFill>
                  <a:srgbClr val="222222"/>
                </a:solidFill>
                <a:latin typeface="Segoe UI"/>
              </a:rPr>
              <a:t>khử trùng event_id</a:t>
            </a:r>
          </a:p>
        </p:txBody>
      </p:sp>
      <p:sp>
        <p:nvSpPr>
          <p:cNvPr id="11" name="Rounded Rectangle 10"/>
          <p:cNvSpPr/>
          <p:nvPr/>
        </p:nvSpPr>
        <p:spPr>
          <a:xfrm>
            <a:off x="7315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Trạng thái (TWS)</a:t>
            </a:r>
          </a:p>
        </p:txBody>
      </p:sp>
      <p:sp>
        <p:nvSpPr>
          <p:cNvPr id="12" name="Rounded Rectangle 11"/>
          <p:cNvSpPr/>
          <p:nvPr/>
        </p:nvSpPr>
        <p:spPr>
          <a:xfrm>
            <a:off x="7315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transformWithState, RocksDB</a:t>
            </a:r>
          </a:p>
          <a:p>
            <a:pPr algn="ctr"/>
            <a:r>
              <a:rPr sz="1400" b="0">
                <a:solidFill>
                  <a:srgbClr val="222222"/>
                </a:solidFill>
                <a:latin typeface="Segoe UI"/>
              </a:rPr>
              <a:t>eager / ordered / none</a:t>
            </a:r>
          </a:p>
          <a:p>
            <a:pPr algn="ctr"/>
            <a:r>
              <a:rPr sz="1400" b="0">
                <a:solidFill>
                  <a:srgbClr val="222222"/>
                </a:solidFill>
                <a:latin typeface="Segoe UI"/>
              </a:rPr>
              <a:t>cảnh báo bế tắc</a:t>
            </a:r>
          </a:p>
        </p:txBody>
      </p:sp>
      <p:sp>
        <p:nvSpPr>
          <p:cNvPr id="13" name="Rounded Rectangle 12"/>
          <p:cNvSpPr/>
          <p:nvPr/>
        </p:nvSpPr>
        <p:spPr>
          <a:xfrm>
            <a:off x="9601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Redis + lake</a:t>
            </a:r>
          </a:p>
        </p:txBody>
      </p:sp>
      <p:sp>
        <p:nvSpPr>
          <p:cNvPr id="14" name="Rounded Rectangle 13"/>
          <p:cNvSpPr/>
          <p:nvPr/>
        </p:nvSpPr>
        <p:spPr>
          <a:xfrm>
            <a:off x="9601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Lua có phiên bản</a:t>
            </a:r>
          </a:p>
          <a:p>
            <a:pPr algn="ctr"/>
            <a:r>
              <a:rPr sz="1400" b="0">
                <a:solidFill>
                  <a:srgbClr val="222222"/>
                </a:solidFill>
                <a:latin typeface="Segoe UI"/>
              </a:rPr>
              <a:t>alert_id tất định</a:t>
            </a:r>
          </a:p>
          <a:p>
            <a:pPr algn="ctr"/>
            <a:r>
              <a:rPr sz="1400" b="0">
                <a:solidFill>
                  <a:srgbClr val="222222"/>
                </a:solidFill>
                <a:latin typeface="Segoe UI"/>
              </a:rPr>
              <a:t>Parquet ghi đè</a:t>
            </a:r>
          </a:p>
        </p:txBody>
      </p:sp>
      <p:sp>
        <p:nvSpPr>
          <p:cNvPr id="15" name="TextBox 14"/>
          <p:cNvSpPr txBox="1"/>
          <p:nvPr/>
        </p:nvSpPr>
        <p:spPr>
          <a:xfrm>
            <a:off x="548640" y="4114800"/>
            <a:ext cx="11064240" cy="2194560"/>
          </a:xfrm>
          <a:prstGeom prst="rect">
            <a:avLst/>
          </a:prstGeom>
          <a:noFill/>
        </p:spPr>
        <p:txBody>
          <a:bodyPr wrap="square">
            <a:spAutoFit/>
          </a:bodyPr>
          <a:lstStyle/>
          <a:p>
            <a:pPr>
              <a:spcAft>
                <a:spcPts val="800"/>
              </a:spcAft>
            </a:pPr>
            <a:r>
              <a:rPr sz="1900" b="0">
                <a:solidFill>
                  <a:srgbClr val="222222"/>
                </a:solidFill>
                <a:latin typeface="Segoe UI"/>
              </a:rPr>
              <a:t>•  eager: độ trễ thấp nhất, trạng thái có thể khác thứ tự event time</a:t>
            </a:r>
          </a:p>
          <a:p>
            <a:pPr>
              <a:spcAft>
                <a:spcPts val="800"/>
              </a:spcAft>
            </a:pPr>
            <a:r>
              <a:rPr sz="1900" b="0">
                <a:solidFill>
                  <a:srgbClr val="222222"/>
                </a:solidFill>
                <a:latin typeface="Segoe UI"/>
              </a:rPr>
              <a:t>•  ordered: áp đúng thứ tự, độ trễ ≥ W theo thiết kế</a:t>
            </a:r>
          </a:p>
          <a:p>
            <a:pPr>
              <a:spcAft>
                <a:spcPts val="800"/>
              </a:spcAft>
            </a:pPr>
            <a:r>
              <a:rPr sz="1900" b="0">
                <a:solidFill>
                  <a:srgbClr val="222222"/>
                </a:solidFill>
                <a:latin typeface="Segoe UI"/>
              </a:rPr>
              <a:t>•  none: không watermark, khử trùng trong state, mốc cho RQ3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Chịu lỗi: ghi idempotent và đối soát với oracle</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5</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Side effect trong foreachBatch là at-least-once → mọi lần ghi phải idempotent</a:t>
            </a:r>
          </a:p>
          <a:p>
            <a:pPr lvl="1">
              <a:spcAft>
                <a:spcPts val="800"/>
              </a:spcAft>
            </a:pPr>
            <a:r>
              <a:rPr sz="1800" b="0">
                <a:solidFill>
                  <a:srgbClr val="222222"/>
                </a:solidFill>
                <a:latin typeface="Segoe UI"/>
              </a:rPr>
              <a:t>–  Redis: script Lua chỉ ghi khi (batch_id, state_version) mới hơn</a:t>
            </a:r>
          </a:p>
          <a:p>
            <a:pPr lvl="1">
              <a:spcAft>
                <a:spcPts val="800"/>
              </a:spcAft>
            </a:pPr>
            <a:r>
              <a:rPr sz="1800" b="0">
                <a:solidFill>
                  <a:srgbClr val="222222"/>
                </a:solidFill>
                <a:latin typeface="Segoe UI"/>
              </a:rPr>
              <a:t>–  Cảnh báo: alert_id tất định, vào alerts:stream đúng một lần</a:t>
            </a:r>
          </a:p>
          <a:p>
            <a:pPr lvl="1">
              <a:spcAft>
                <a:spcPts val="800"/>
              </a:spcAft>
            </a:pPr>
            <a:r>
              <a:rPr sz="1800" b="0">
                <a:solidFill>
                  <a:srgbClr val="222222"/>
                </a:solidFill>
                <a:latin typeface="Segoe UI"/>
              </a:rPr>
              <a:t>–  Lake: ghi đè đúng tệp của batch</a:t>
            </a:r>
          </a:p>
          <a:p>
            <a:pPr>
              <a:spcAft>
                <a:spcPts val="800"/>
              </a:spcAft>
            </a:pPr>
            <a:r>
              <a:rPr sz="2100" b="0">
                <a:solidFill>
                  <a:srgbClr val="222222"/>
                </a:solidFill>
                <a:latin typeface="Segoe UI"/>
              </a:rPr>
              <a:t>•  Đối soát sau mỗi run: oracle ngoại tuyến từ đúng các sự kiện đã nhận</a:t>
            </a:r>
          </a:p>
          <a:p>
            <a:pPr>
              <a:spcAft>
                <a:spcPts val="800"/>
              </a:spcAft>
            </a:pPr>
            <a:r>
              <a:rPr sz="2100" b="1">
                <a:solidFill>
                  <a:srgbClr val="C0612B"/>
                </a:solidFill>
                <a:latin typeface="Segoe UI"/>
              </a:rPr>
              <a:t>•  Giết job giữa micro-batch rồi chạy lại: khớp oracle 558/558 (100%), áp hai lần 0, cảnh báo trùng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Dịch vụ gợi ý có kiểm chứng</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6</a:t>
            </a:r>
          </a:p>
        </p:txBody>
      </p:sp>
      <p:sp>
        <p:nvSpPr>
          <p:cNvPr id="5" name="Rounded Rectangle 4"/>
          <p:cNvSpPr/>
          <p:nvPr/>
        </p:nvSpPr>
        <p:spPr>
          <a:xfrm>
            <a:off x="548640" y="1280160"/>
            <a:ext cx="3566160" cy="548640"/>
          </a:xfrm>
          <a:prstGeom prst="roundRect">
            <a:avLst/>
          </a:prstGeom>
          <a:solidFill>
            <a:srgbClr val="C061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FFFFFF"/>
                </a:solidFill>
                <a:latin typeface="Segoe UI"/>
              </a:rPr>
              <a:t>Bậc 1</a:t>
            </a:r>
          </a:p>
        </p:txBody>
      </p:sp>
      <p:sp>
        <p:nvSpPr>
          <p:cNvPr id="6" name="Rounded Rectangle 5"/>
          <p:cNvSpPr/>
          <p:nvPr/>
        </p:nvSpPr>
        <p:spPr>
          <a:xfrm>
            <a:off x="548640" y="1920240"/>
            <a:ext cx="356616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0">
                <a:solidFill>
                  <a:srgbClr val="222222"/>
                </a:solidFill>
                <a:latin typeface="Segoe UI"/>
              </a:rPr>
              <a:t>khái niệm kỹ năng</a:t>
            </a:r>
          </a:p>
          <a:p>
            <a:pPr algn="ctr"/>
            <a:r>
              <a:rPr sz="1600" b="0">
                <a:solidFill>
                  <a:srgbClr val="222222"/>
                </a:solidFill>
                <a:latin typeface="Segoe UI"/>
              </a:rPr>
              <a:t>+ bài tương tự (tập dev)</a:t>
            </a:r>
          </a:p>
        </p:txBody>
      </p:sp>
      <p:sp>
        <p:nvSpPr>
          <p:cNvPr id="7" name="Rounded Rectangle 6"/>
          <p:cNvSpPr/>
          <p:nvPr/>
        </p:nvSpPr>
        <p:spPr>
          <a:xfrm>
            <a:off x="4297679" y="1280160"/>
            <a:ext cx="3566160" cy="548640"/>
          </a:xfrm>
          <a:prstGeom prst="roundRect">
            <a:avLst/>
          </a:prstGeom>
          <a:solidFill>
            <a:srgbClr val="C061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FFFFFF"/>
                </a:solidFill>
                <a:latin typeface="Segoe UI"/>
              </a:rPr>
              <a:t>Bậc 2</a:t>
            </a:r>
          </a:p>
        </p:txBody>
      </p:sp>
      <p:sp>
        <p:nvSpPr>
          <p:cNvPr id="8" name="Rounded Rectangle 7"/>
          <p:cNvSpPr/>
          <p:nvPr/>
        </p:nvSpPr>
        <p:spPr>
          <a:xfrm>
            <a:off x="4297679" y="1920240"/>
            <a:ext cx="356616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0">
                <a:solidFill>
                  <a:srgbClr val="222222"/>
                </a:solidFill>
                <a:latin typeface="Segoe UI"/>
              </a:rPr>
              <a:t>chẩn đoán lỗi</a:t>
            </a:r>
          </a:p>
          <a:p>
            <a:pPr algn="ctr"/>
            <a:r>
              <a:rPr sz="1600" b="0">
                <a:solidFill>
                  <a:srgbClr val="222222"/>
                </a:solidFill>
                <a:latin typeface="Segoe UI"/>
              </a:rPr>
              <a:t>+ dạng bước tiếp, số thay bằng □</a:t>
            </a:r>
          </a:p>
        </p:txBody>
      </p:sp>
      <p:sp>
        <p:nvSpPr>
          <p:cNvPr id="9" name="Rounded Rectangle 8"/>
          <p:cNvSpPr/>
          <p:nvPr/>
        </p:nvSpPr>
        <p:spPr>
          <a:xfrm>
            <a:off x="8046719" y="1280160"/>
            <a:ext cx="3566160" cy="548640"/>
          </a:xfrm>
          <a:prstGeom prst="roundRect">
            <a:avLst/>
          </a:prstGeom>
          <a:solidFill>
            <a:srgbClr val="C061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FFFFFF"/>
                </a:solidFill>
                <a:latin typeface="Segoe UI"/>
              </a:rPr>
              <a:t>Bậc 3</a:t>
            </a:r>
          </a:p>
        </p:txBody>
      </p:sp>
      <p:sp>
        <p:nvSpPr>
          <p:cNvPr id="10" name="Rounded Rectangle 9"/>
          <p:cNvSpPr/>
          <p:nvPr/>
        </p:nvSpPr>
        <p:spPr>
          <a:xfrm>
            <a:off x="8046719" y="1920240"/>
            <a:ext cx="356616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0">
                <a:solidFill>
                  <a:srgbClr val="222222"/>
                </a:solidFill>
                <a:latin typeface="Segoe UI"/>
              </a:rPr>
              <a:t>bước tiếp đã kiểm</a:t>
            </a:r>
          </a:p>
          <a:p>
            <a:pPr algn="ctr"/>
            <a:r>
              <a:rPr sz="1600" b="0">
                <a:solidFill>
                  <a:srgbClr val="222222"/>
                </a:solidFill>
                <a:latin typeface="Segoe UI"/>
              </a:rPr>
              <a:t>(bước lộ đáp án: chỉ đưa dạng)</a:t>
            </a:r>
          </a:p>
        </p:txBody>
      </p:sp>
      <p:sp>
        <p:nvSpPr>
          <p:cNvPr id="11" name="TextBox 10"/>
          <p:cNvSpPr txBox="1"/>
          <p:nvPr/>
        </p:nvSpPr>
        <p:spPr>
          <a:xfrm>
            <a:off x="548640" y="3383280"/>
            <a:ext cx="11064240" cy="2926080"/>
          </a:xfrm>
          <a:prstGeom prst="rect">
            <a:avLst/>
          </a:prstGeom>
          <a:noFill/>
        </p:spPr>
        <p:txBody>
          <a:bodyPr wrap="square">
            <a:spAutoFit/>
          </a:bodyPr>
          <a:lstStyle/>
          <a:p>
            <a:pPr>
              <a:spcAft>
                <a:spcPts val="800"/>
              </a:spcAft>
            </a:pPr>
            <a:r>
              <a:rPr sz="1900" b="0">
                <a:solidFill>
                  <a:srgbClr val="222222"/>
                </a:solidFill>
                <a:latin typeface="Segoe UI"/>
              </a:rPr>
              <a:t>•  Khởi động: SymPy kiểm mọi bước của kho bài, đánh dấu bước lộ đáp án</a:t>
            </a:r>
          </a:p>
          <a:p>
            <a:pPr>
              <a:spcAft>
                <a:spcPts val="800"/>
              </a:spcAft>
            </a:pPr>
            <a:r>
              <a:rPr sz="1900" b="0">
                <a:solidFill>
                  <a:srgbClr val="222222"/>
                </a:solidFill>
                <a:latin typeface="Segoe UI"/>
              </a:rPr>
              <a:t>•  Mỗi yêu cầu: chẩn đoán biểu thức (tiến trình con có hạn giờ) → đọc Redis → chọn bậc → kiểm bản nháp</a:t>
            </a:r>
          </a:p>
          <a:p>
            <a:pPr>
              <a:spcAft>
                <a:spcPts val="800"/>
              </a:spcAft>
            </a:pPr>
            <a:r>
              <a:rPr sz="1900" b="0">
                <a:solidFill>
                  <a:srgbClr val="222222"/>
                </a:solidFill>
                <a:latin typeface="Segoe UI"/>
              </a:rPr>
              <a:t>•  Thiếu trạng thái → bậc 1, không bao giờ đưa đáp án (fail-closed)</a:t>
            </a:r>
          </a:p>
          <a:p>
            <a:pPr>
              <a:spcAft>
                <a:spcPts val="800"/>
              </a:spcAft>
            </a:pPr>
            <a:r>
              <a:rPr sz="1900" b="0">
                <a:solidFill>
                  <a:srgbClr val="222222"/>
                </a:solidFill>
                <a:latin typeface="Segoe UI"/>
              </a:rPr>
              <a:t>•  Không gọi mô hình ngôn ngữ lúc chạy; câu chữ là câu mẫu tiếng Việt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Thiết lập thí nghiệm</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7</a:t>
            </a:r>
          </a:p>
        </p:txBody>
      </p:sp>
      <p:graphicFrame>
        <p:nvGraphicFramePr>
          <p:cNvPr id="5" name="Table 4"/>
          <p:cNvGraphicFramePr>
            <a:graphicFrameLocks noGrp="1"/>
          </p:cNvGraphicFramePr>
          <p:nvPr/>
        </p:nvGraphicFramePr>
        <p:xfrm>
          <a:off x="457200" y="1188720"/>
          <a:ext cx="11247118" cy="3200400"/>
        </p:xfrm>
        <a:graphic>
          <a:graphicData uri="http://schemas.openxmlformats.org/drawingml/2006/table">
            <a:tbl>
              <a:tblPr firstRow="1" bandRow="1">
                <a:tableStyleId>{5C22544A-7EE6-4342-B048-85BDC9FD1C3A}</a:tableStyleId>
              </a:tblPr>
              <a:tblGrid>
                <a:gridCol w="878681"/>
                <a:gridCol w="7908131"/>
                <a:gridCol w="1230153"/>
                <a:gridCol w="1230153"/>
              </a:tblGrid>
              <a:tr h="457200">
                <a:tc>
                  <a:txBody>
                    <a:bodyPr/>
                    <a:lstStyle/>
                    <a:p>
                      <a:pPr>
                        <a:defRPr sz="1300" b="1">
                          <a:solidFill>
                            <a:srgbClr val="FFFFFF"/>
                          </a:solidFill>
                          <a:latin typeface="Segoe UI"/>
                        </a:defRPr>
                      </a:pPr>
                      <a:r>
                        <a:rPr sz="1300" b="1">
                          <a:solidFill>
                            <a:srgbClr val="FFFFFF"/>
                          </a:solidFill>
                          <a:latin typeface="Segoe UI"/>
                        </a:rPr>
                        <a:t>Exp</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Câu hỏi</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Cấu hình</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Run</a:t>
                      </a:r>
                    </a:p>
                  </a:txBody>
                  <a:tcPr>
                    <a:solidFill>
                      <a:srgbClr val="1F3A5F"/>
                    </a:solidFill>
                  </a:tcPr>
                </a:tc>
              </a:tr>
              <a:tr h="457200">
                <a:tc>
                  <a:txBody>
                    <a:bodyPr/>
                    <a:lstStyle/>
                    <a:p>
                      <a:pPr>
                        <a:defRPr sz="1300" b="0">
                          <a:solidFill>
                            <a:srgbClr val="222222"/>
                          </a:solidFill>
                          <a:latin typeface="Segoe UI"/>
                        </a:defRPr>
                      </a:pPr>
                      <a:r>
                        <a:rPr sz="1300" b="0">
                          <a:solidFill>
                            <a:srgbClr val="222222"/>
                          </a:solidFill>
                          <a:latin typeface="Segoe UI"/>
                        </a:rPr>
                        <a:t>A</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Hệ thống chịu tải thế nào khi tăng tốc độ sự kiện và số partition?</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9</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27/27</a:t>
                      </a:r>
                    </a:p>
                  </a:txBody>
                  <a:tcPr>
                    <a:solidFill>
                      <a:srgbClr val="EEF2F8"/>
                    </a:solidFill>
                  </a:tcPr>
                </a:tc>
              </a:tr>
              <a:tr h="457200">
                <a:tc>
                  <a:txBody>
                    <a:bodyPr/>
                    <a:lstStyle/>
                    <a:p>
                      <a:pPr>
                        <a:defRPr sz="1300" b="0">
                          <a:solidFill>
                            <a:srgbClr val="222222"/>
                          </a:solidFill>
                          <a:latin typeface="Segoe UI"/>
                        </a:defRPr>
                      </a:pPr>
                      <a:r>
                        <a:rPr sz="1300" b="0">
                          <a:solidFill>
                            <a:srgbClr val="222222"/>
                          </a:solidFill>
                          <a:latin typeface="Segoe UI"/>
                        </a:rPr>
                        <a:t>B</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Số người học (kích thước trạng thái) ảnh hưởng độ trễ thế nào?</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3</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9/9</a:t>
                      </a:r>
                    </a:p>
                  </a:txBody>
                  <a:tcPr>
                    <a:solidFill>
                      <a:srgbClr val="FFFFFF"/>
                    </a:solidFill>
                  </a:tcPr>
                </a:tc>
              </a:tr>
              <a:tr h="457200">
                <a:tc>
                  <a:txBody>
                    <a:bodyPr/>
                    <a:lstStyle/>
                    <a:p>
                      <a:pPr>
                        <a:defRPr sz="1300" b="0">
                          <a:solidFill>
                            <a:srgbClr val="222222"/>
                          </a:solidFill>
                          <a:latin typeface="Segoe UI"/>
                        </a:defRPr>
                      </a:pPr>
                      <a:r>
                        <a:rPr sz="1300" b="0">
                          <a:solidFill>
                            <a:srgbClr val="222222"/>
                          </a:solidFill>
                          <a:latin typeface="Segoe UI"/>
                        </a:rPr>
                        <a:t>C</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RQ1 — streaming rút ngắn thời gian phát hiện bế tắc bao nhiêu, tốn thêm bao nhiêu tài nguyên?</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6</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18/18</a:t>
                      </a:r>
                    </a:p>
                  </a:txBody>
                  <a:tcPr>
                    <a:solidFill>
                      <a:srgbClr val="EEF2F8"/>
                    </a:solidFill>
                  </a:tcPr>
                </a:tc>
              </a:tr>
              <a:tr h="457200">
                <a:tc>
                  <a:txBody>
                    <a:bodyPr/>
                    <a:lstStyle/>
                    <a:p>
                      <a:pPr>
                        <a:defRPr sz="1300" b="0">
                          <a:solidFill>
                            <a:srgbClr val="222222"/>
                          </a:solidFill>
                          <a:latin typeface="Segoe UI"/>
                        </a:defRPr>
                      </a:pPr>
                      <a:r>
                        <a:rPr sz="1300" b="0">
                          <a:solidFill>
                            <a:srgbClr val="222222"/>
                          </a:solidFill>
                          <a:latin typeface="Segoe UI"/>
                        </a:rPr>
                        <a:t>D</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RQ3 — watermark và khử trùng ảnh hưởng độ đúng trạng thái và công bằng thế nào?</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14</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42/42</a:t>
                      </a:r>
                    </a:p>
                  </a:txBody>
                  <a:tcPr>
                    <a:solidFill>
                      <a:srgbClr val="FFFFFF"/>
                    </a:solidFill>
                  </a:tcPr>
                </a:tc>
              </a:tr>
              <a:tr h="457200">
                <a:tc>
                  <a:txBody>
                    <a:bodyPr/>
                    <a:lstStyle/>
                    <a:p>
                      <a:pPr>
                        <a:defRPr sz="1300" b="0">
                          <a:solidFill>
                            <a:srgbClr val="222222"/>
                          </a:solidFill>
                          <a:latin typeface="Segoe UI"/>
                        </a:defRPr>
                      </a:pPr>
                      <a:r>
                        <a:rPr sz="1300" b="0">
                          <a:solidFill>
                            <a:srgbClr val="222222"/>
                          </a:solidFill>
                          <a:latin typeface="Segoe UI"/>
                        </a:rPr>
                        <a:t>E</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RQ2 (độ trễ) — API gợi ý giữ P95 khi tăng yêu cầu đồng thời?</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4</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12/12</a:t>
                      </a:r>
                    </a:p>
                  </a:txBody>
                  <a:tcPr>
                    <a:solidFill>
                      <a:srgbClr val="EEF2F8"/>
                    </a:solidFill>
                  </a:tcPr>
                </a:tc>
              </a:tr>
              <a:tr h="457200">
                <a:tc>
                  <a:txBody>
                    <a:bodyPr/>
                    <a:lstStyle/>
                    <a:p>
                      <a:pPr>
                        <a:defRPr sz="1300" b="0">
                          <a:solidFill>
                            <a:srgbClr val="222222"/>
                          </a:solidFill>
                          <a:latin typeface="Segoe UI"/>
                        </a:defRPr>
                      </a:pPr>
                      <a:r>
                        <a:rPr sz="1300" b="0">
                          <a:solidFill>
                            <a:srgbClr val="222222"/>
                          </a:solidFill>
                          <a:latin typeface="Segoe UI"/>
                        </a:rPr>
                        <a:t>MR</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Job MapReduce theo (người học, bài) mở rộng thế nào theo quy mô và số worker? (3 quy mô × 2 cấu hình tài nguyên × 3 lần lặp)</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6</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18/18</a:t>
                      </a:r>
                    </a:p>
                  </a:txBody>
                  <a:tcPr>
                    <a:solidFill>
                      <a:srgbClr val="FFFFFF"/>
                    </a:solidFill>
                  </a:tcPr>
                </a:tc>
              </a:tr>
            </a:tbl>
          </a:graphicData>
        </a:graphic>
      </p:graphicFrame>
      <p:sp>
        <p:nvSpPr>
          <p:cNvPr id="6" name="TextBox 5"/>
          <p:cNvSpPr txBox="1"/>
          <p:nvPr/>
        </p:nvSpPr>
        <p:spPr>
          <a:xfrm>
            <a:off x="548640" y="5486400"/>
            <a:ext cx="11064240" cy="548640"/>
          </a:xfrm>
          <a:prstGeom prst="rect">
            <a:avLst/>
          </a:prstGeom>
          <a:noFill/>
        </p:spPr>
        <p:txBody>
          <a:bodyPr wrap="square">
            <a:spAutoFit/>
          </a:bodyPr>
          <a:lstStyle/>
          <a:p>
            <a:r>
              <a:rPr sz="1300" b="0">
                <a:solidFill>
                  <a:srgbClr val="555555"/>
                </a:solidFill>
                <a:latin typeface="Segoe UI"/>
              </a:rPr>
              <a:t>Một máy (Intel(R) Core(TM) i9-14900K); 600 s/run, bỏ 60 s đầu; 3 seed; trung vị (min–max), không kiểm định giả thuyết; cộng ablation, soak và trần ingestion.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RQ1: phát hiện bế tắc — batch so với streaming</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TV4</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8</a:t>
            </a:r>
          </a:p>
        </p:txBody>
      </p:sp>
      <p:graphicFrame>
        <p:nvGraphicFramePr>
          <p:cNvPr id="6" name="Table 5"/>
          <p:cNvGraphicFramePr>
            <a:graphicFrameLocks noGrp="1"/>
          </p:cNvGraphicFramePr>
          <p:nvPr/>
        </p:nvGraphicFramePr>
        <p:xfrm>
          <a:off x="457200" y="1188720"/>
          <a:ext cx="4754880" cy="2688336"/>
        </p:xfrm>
        <a:graphic>
          <a:graphicData uri="http://schemas.openxmlformats.org/drawingml/2006/table">
            <a:tbl>
              <a:tblPr firstRow="1" bandRow="1">
                <a:tableStyleId>{5C22544A-7EE6-4342-B048-85BDC9FD1C3A}</a:tableStyleId>
              </a:tblPr>
              <a:tblGrid>
                <a:gridCol w="1901952"/>
                <a:gridCol w="2852928"/>
              </a:tblGrid>
              <a:tr h="384048">
                <a:tc>
                  <a:txBody>
                    <a:bodyPr/>
                    <a:lstStyle/>
                    <a:p>
                      <a:pPr>
                        <a:defRPr sz="1400" b="1">
                          <a:solidFill>
                            <a:srgbClr val="FFFFFF"/>
                          </a:solidFill>
                          <a:latin typeface="Segoe UI"/>
                        </a:defRPr>
                      </a:pPr>
                      <a:r>
                        <a:rPr sz="1400" b="1">
                          <a:solidFill>
                            <a:srgbClr val="FFFFFF"/>
                          </a:solidFill>
                          <a:latin typeface="Segoe UI"/>
                        </a:rPr>
                        <a:t>Cấu hình</a:t>
                      </a:r>
                    </a:p>
                  </a:txBody>
                  <a:tcPr>
                    <a:solidFill>
                      <a:srgbClr val="1F3A5F"/>
                    </a:solidFill>
                  </a:tcPr>
                </a:tc>
                <a:tc>
                  <a:txBody>
                    <a:bodyPr/>
                    <a:lstStyle/>
                    <a:p>
                      <a:pPr>
                        <a:defRPr sz="1400" b="1">
                          <a:solidFill>
                            <a:srgbClr val="FFFFFF"/>
                          </a:solidFill>
                          <a:latin typeface="Segoe UI"/>
                        </a:defRPr>
                      </a:pPr>
                      <a:r>
                        <a:rPr sz="1400" b="1">
                          <a:solidFill>
                            <a:srgbClr val="FFFFFF"/>
                          </a:solidFill>
                          <a:latin typeface="Segoe UI"/>
                        </a:rPr>
                        <a:t>Phát hiện P50</a:t>
                      </a:r>
                    </a:p>
                  </a:txBody>
                  <a:tcPr>
                    <a:solidFill>
                      <a:srgbClr val="1F3A5F"/>
                    </a:solidFill>
                  </a:tcPr>
                </a:tc>
              </a:tr>
              <a:tr h="384048">
                <a:tc>
                  <a:txBody>
                    <a:bodyPr/>
                    <a:lstStyle/>
                    <a:p>
                      <a:pPr>
                        <a:defRPr sz="1400" b="0">
                          <a:solidFill>
                            <a:srgbClr val="222222"/>
                          </a:solidFill>
                          <a:latin typeface="Segoe UI"/>
                        </a:defRPr>
                      </a:pPr>
                      <a:r>
                        <a:rPr sz="1400" b="0">
                          <a:solidFill>
                            <a:srgbClr val="222222"/>
                          </a:solidFill>
                          <a:latin typeface="Segoe UI"/>
                        </a:rPr>
                        <a:t>Batch ngày</a:t>
                      </a:r>
                    </a:p>
                  </a:txBody>
                  <a:tcPr>
                    <a:solidFill>
                      <a:srgbClr val="EEF2F8"/>
                    </a:solidFill>
                  </a:tcPr>
                </a:tc>
                <a:tc>
                  <a:txBody>
                    <a:bodyPr/>
                    <a:lstStyle/>
                    <a:p>
                      <a:pPr>
                        <a:defRPr sz="1400" b="0">
                          <a:solidFill>
                            <a:srgbClr val="222222"/>
                          </a:solidFill>
                          <a:latin typeface="Segoe UI"/>
                        </a:defRPr>
                      </a:pPr>
                      <a:r>
                        <a:rPr sz="1400" b="0">
                          <a:solidFill>
                            <a:srgbClr val="222222"/>
                          </a:solidFill>
                          <a:latin typeface="Segoe UI"/>
                        </a:rPr>
                        <a:t>62.946,7 s (61.267,0–80.976,6)</a:t>
                      </a:r>
                    </a:p>
                  </a:txBody>
                  <a:tcPr>
                    <a:solidFill>
                      <a:srgbClr val="EEF2F8"/>
                    </a:solidFill>
                  </a:tcPr>
                </a:tc>
              </a:tr>
              <a:tr h="384048">
                <a:tc>
                  <a:txBody>
                    <a:bodyPr/>
                    <a:lstStyle/>
                    <a:p>
                      <a:pPr>
                        <a:defRPr sz="1400" b="0">
                          <a:solidFill>
                            <a:srgbClr val="222222"/>
                          </a:solidFill>
                          <a:latin typeface="Segoe UI"/>
                        </a:defRPr>
                      </a:pPr>
                      <a:r>
                        <a:rPr sz="1400" b="0">
                          <a:solidFill>
                            <a:srgbClr val="222222"/>
                          </a:solidFill>
                          <a:latin typeface="Segoe UI"/>
                        </a:rPr>
                        <a:t>Batch giờ</a:t>
                      </a:r>
                    </a:p>
                  </a:txBody>
                  <a:tcPr>
                    <a:solidFill>
                      <a:srgbClr val="FFFFFF"/>
                    </a:solidFill>
                  </a:tcPr>
                </a:tc>
                <a:tc>
                  <a:txBody>
                    <a:bodyPr/>
                    <a:lstStyle/>
                    <a:p>
                      <a:pPr>
                        <a:defRPr sz="1400" b="0">
                          <a:solidFill>
                            <a:srgbClr val="222222"/>
                          </a:solidFill>
                          <a:latin typeface="Segoe UI"/>
                        </a:defRPr>
                      </a:pPr>
                      <a:r>
                        <a:rPr sz="1400" b="0">
                          <a:solidFill>
                            <a:srgbClr val="222222"/>
                          </a:solidFill>
                          <a:latin typeface="Segoe UI"/>
                        </a:rPr>
                        <a:t>1.547,8 s (550,3–1.610,1)</a:t>
                      </a:r>
                    </a:p>
                  </a:txBody>
                  <a:tcPr>
                    <a:solidFill>
                      <a:srgbClr val="FFFFFF"/>
                    </a:solidFill>
                  </a:tcPr>
                </a:tc>
              </a:tr>
              <a:tr h="384048">
                <a:tc>
                  <a:txBody>
                    <a:bodyPr/>
                    <a:lstStyle/>
                    <a:p>
                      <a:pPr>
                        <a:defRPr sz="1400" b="0">
                          <a:solidFill>
                            <a:srgbClr val="222222"/>
                          </a:solidFill>
                          <a:latin typeface="Segoe UI"/>
                        </a:defRPr>
                      </a:pPr>
                      <a:r>
                        <a:rPr sz="1400" b="0">
                          <a:solidFill>
                            <a:srgbClr val="222222"/>
                          </a:solidFill>
                          <a:latin typeface="Segoe UI"/>
                        </a:rPr>
                        <a:t>Trigger 60 s</a:t>
                      </a:r>
                    </a:p>
                  </a:txBody>
                  <a:tcPr>
                    <a:solidFill>
                      <a:srgbClr val="EEF2F8"/>
                    </a:solidFill>
                  </a:tcPr>
                </a:tc>
                <a:tc>
                  <a:txBody>
                    <a:bodyPr/>
                    <a:lstStyle/>
                    <a:p>
                      <a:pPr>
                        <a:defRPr sz="1400" b="0">
                          <a:solidFill>
                            <a:srgbClr val="222222"/>
                          </a:solidFill>
                          <a:latin typeface="Segoe UI"/>
                        </a:defRPr>
                      </a:pPr>
                      <a:r>
                        <a:rPr sz="1400" b="0">
                          <a:solidFill>
                            <a:srgbClr val="222222"/>
                          </a:solidFill>
                          <a:latin typeface="Segoe UI"/>
                        </a:rPr>
                        <a:t>30,2 s (30,2–36,2)</a:t>
                      </a:r>
                    </a:p>
                  </a:txBody>
                  <a:tcPr>
                    <a:solidFill>
                      <a:srgbClr val="EEF2F8"/>
                    </a:solidFill>
                  </a:tcPr>
                </a:tc>
              </a:tr>
              <a:tr h="384048">
                <a:tc>
                  <a:txBody>
                    <a:bodyPr/>
                    <a:lstStyle/>
                    <a:p>
                      <a:pPr>
                        <a:defRPr sz="1400" b="0">
                          <a:solidFill>
                            <a:srgbClr val="222222"/>
                          </a:solidFill>
                          <a:latin typeface="Segoe UI"/>
                        </a:defRPr>
                      </a:pPr>
                      <a:r>
                        <a:rPr sz="1400" b="0">
                          <a:solidFill>
                            <a:srgbClr val="222222"/>
                          </a:solidFill>
                          <a:latin typeface="Segoe UI"/>
                        </a:rPr>
                        <a:t>Trigger 10 s</a:t>
                      </a:r>
                    </a:p>
                  </a:txBody>
                  <a:tcPr>
                    <a:solidFill>
                      <a:srgbClr val="FFFFFF"/>
                    </a:solidFill>
                  </a:tcPr>
                </a:tc>
                <a:tc>
                  <a:txBody>
                    <a:bodyPr/>
                    <a:lstStyle/>
                    <a:p>
                      <a:pPr>
                        <a:defRPr sz="1400" b="0">
                          <a:solidFill>
                            <a:srgbClr val="222222"/>
                          </a:solidFill>
                          <a:latin typeface="Segoe UI"/>
                        </a:defRPr>
                      </a:pPr>
                      <a:r>
                        <a:rPr sz="1400" b="0">
                          <a:solidFill>
                            <a:srgbClr val="222222"/>
                          </a:solidFill>
                          <a:latin typeface="Segoe UI"/>
                        </a:rPr>
                        <a:t>8,3 s (7,9–8,5)</a:t>
                      </a:r>
                    </a:p>
                  </a:txBody>
                  <a:tcPr>
                    <a:solidFill>
                      <a:srgbClr val="FFFFFF"/>
                    </a:solidFill>
                  </a:tcPr>
                </a:tc>
              </a:tr>
              <a:tr h="384048">
                <a:tc>
                  <a:txBody>
                    <a:bodyPr/>
                    <a:lstStyle/>
                    <a:p>
                      <a:pPr>
                        <a:defRPr sz="1400" b="0">
                          <a:solidFill>
                            <a:srgbClr val="222222"/>
                          </a:solidFill>
                          <a:latin typeface="Segoe UI"/>
                        </a:defRPr>
                      </a:pPr>
                      <a:r>
                        <a:rPr sz="1400" b="0">
                          <a:solidFill>
                            <a:srgbClr val="222222"/>
                          </a:solidFill>
                          <a:latin typeface="Segoe UI"/>
                        </a:rPr>
                        <a:t>Trigger 1 s</a:t>
                      </a:r>
                    </a:p>
                  </a:txBody>
                  <a:tcPr>
                    <a:solidFill>
                      <a:srgbClr val="EEF2F8"/>
                    </a:solidFill>
                  </a:tcPr>
                </a:tc>
                <a:tc>
                  <a:txBody>
                    <a:bodyPr/>
                    <a:lstStyle/>
                    <a:p>
                      <a:pPr>
                        <a:defRPr sz="1400" b="0">
                          <a:solidFill>
                            <a:srgbClr val="222222"/>
                          </a:solidFill>
                          <a:latin typeface="Segoe UI"/>
                        </a:defRPr>
                      </a:pPr>
                      <a:r>
                        <a:rPr sz="1400" b="0">
                          <a:solidFill>
                            <a:srgbClr val="222222"/>
                          </a:solidFill>
                          <a:latin typeface="Segoe UI"/>
                        </a:rPr>
                        <a:t>3,5 s (3,4–3,7)</a:t>
                      </a:r>
                    </a:p>
                  </a:txBody>
                  <a:tcPr>
                    <a:solidFill>
                      <a:srgbClr val="EEF2F8"/>
                    </a:solidFill>
                  </a:tcPr>
                </a:tc>
              </a:tr>
              <a:tr h="384048">
                <a:tc>
                  <a:txBody>
                    <a:bodyPr/>
                    <a:lstStyle/>
                    <a:p>
                      <a:pPr>
                        <a:defRPr sz="1400" b="0">
                          <a:solidFill>
                            <a:srgbClr val="222222"/>
                          </a:solidFill>
                          <a:latin typeface="Segoe UI"/>
                        </a:defRPr>
                      </a:pPr>
                      <a:r>
                        <a:rPr sz="1400" b="0">
                          <a:solidFill>
                            <a:srgbClr val="222222"/>
                          </a:solidFill>
                          <a:latin typeface="Segoe UI"/>
                        </a:rPr>
                        <a:t>ASAP</a:t>
                      </a:r>
                    </a:p>
                  </a:txBody>
                  <a:tcPr>
                    <a:solidFill>
                      <a:srgbClr val="FFFFFF"/>
                    </a:solidFill>
                  </a:tcPr>
                </a:tc>
                <a:tc>
                  <a:txBody>
                    <a:bodyPr/>
                    <a:lstStyle/>
                    <a:p>
                      <a:pPr>
                        <a:defRPr sz="1400" b="0">
                          <a:solidFill>
                            <a:srgbClr val="222222"/>
                          </a:solidFill>
                          <a:latin typeface="Segoe UI"/>
                        </a:defRPr>
                      </a:pPr>
                      <a:r>
                        <a:rPr sz="1400" b="0">
                          <a:solidFill>
                            <a:srgbClr val="222222"/>
                          </a:solidFill>
                          <a:latin typeface="Segoe UI"/>
                        </a:rPr>
                        <a:t>3,8 s (3,8–4,0)</a:t>
                      </a:r>
                    </a:p>
                  </a:txBody>
                  <a:tcPr>
                    <a:solidFill>
                      <a:srgbClr val="FFFFFF"/>
                    </a:solidFill>
                  </a:tcPr>
                </a:tc>
              </a:tr>
            </a:tbl>
          </a:graphicData>
        </a:graphic>
      </p:graphicFrame>
      <p:pic>
        <p:nvPicPr>
          <p:cNvPr id="7" name="Picture 6" descr="h2-freshness-cost.png"/>
          <p:cNvPicPr>
            <a:picLocks noChangeAspect="1"/>
          </p:cNvPicPr>
          <p:nvPr/>
        </p:nvPicPr>
        <p:blipFill>
          <a:blip r:embed="rId3"/>
          <a:stretch>
            <a:fillRect/>
          </a:stretch>
        </p:blipFill>
        <p:spPr>
          <a:xfrm>
            <a:off x="5394960" y="1280160"/>
            <a:ext cx="6400800" cy="1972072"/>
          </a:xfrm>
          <a:prstGeom prst="rect">
            <a:avLst/>
          </a:prstGeom>
        </p:spPr>
      </p:pic>
      <p:sp>
        <p:nvSpPr>
          <p:cNvPr id="8" name="TextBox 7"/>
          <p:cNvSpPr txBox="1"/>
          <p:nvPr/>
        </p:nvSpPr>
        <p:spPr>
          <a:xfrm>
            <a:off x="548640" y="5120640"/>
            <a:ext cx="11064240" cy="548640"/>
          </a:xfrm>
          <a:prstGeom prst="rect">
            <a:avLst/>
          </a:prstGeom>
          <a:noFill/>
        </p:spPr>
        <p:txBody>
          <a:bodyPr wrap="square">
            <a:spAutoFit/>
          </a:bodyPr>
          <a:lstStyle/>
          <a:p>
            <a:r>
              <a:rPr sz="1600" b="0">
                <a:solidFill>
                  <a:srgbClr val="555555"/>
                </a:solidFill>
                <a:latin typeface="Segoe UI"/>
              </a:rPr>
              <a:t>Batch ngày → streaming ASAP: tỉ số trung vị 16.388× (15.195–21.237)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Mở rộng theo tải, partition và số người học</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TV1, TV3</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9</a:t>
            </a:r>
          </a:p>
        </p:txBody>
      </p:sp>
      <p:pic>
        <p:nvPicPr>
          <p:cNvPr id="6" name="Picture 5" descr="h3-scalability.png"/>
          <p:cNvPicPr>
            <a:picLocks noChangeAspect="1"/>
          </p:cNvPicPr>
          <p:nvPr/>
        </p:nvPicPr>
        <p:blipFill>
          <a:blip r:embed="rId3"/>
          <a:stretch>
            <a:fillRect/>
          </a:stretch>
        </p:blipFill>
        <p:spPr>
          <a:xfrm>
            <a:off x="548640" y="1143000"/>
            <a:ext cx="11064240" cy="3334138"/>
          </a:xfrm>
          <a:prstGeom prst="rect">
            <a:avLst/>
          </a:prstGeom>
        </p:spPr>
      </p:pic>
      <p:sp>
        <p:nvSpPr>
          <p:cNvPr id="7" name="TextBox 6"/>
          <p:cNvSpPr txBox="1"/>
          <p:nvPr/>
        </p:nvSpPr>
        <p:spPr>
          <a:xfrm>
            <a:off x="548640" y="4800600"/>
            <a:ext cx="11064240" cy="548640"/>
          </a:xfrm>
          <a:prstGeom prst="rect">
            <a:avLst/>
          </a:prstGeom>
          <a:noFill/>
        </p:spPr>
        <p:txBody>
          <a:bodyPr wrap="square">
            <a:spAutoFit/>
          </a:bodyPr>
          <a:lstStyle/>
          <a:p>
            <a:r>
              <a:rPr sz="1400" b="0">
                <a:solidFill>
                  <a:srgbClr val="555555"/>
                </a:solidFill>
                <a:latin typeface="Segoe UI"/>
              </a:rPr>
              <a:t>Exp A: P95 ở 1K ev/s 4,25 s (4,07–4,54) (SLO 5 s, run 10 phút) · bền vững tới 10.000 ev/s (lag không tăng nhưng vượt SLO; cao nhất trong SLO: 1.000 ev/s)</a:t>
            </a:r>
          </a:p>
        </p:txBody>
      </p:sp>
      <p:sp>
        <p:nvSpPr>
          <p:cNvPr id="8" name="TextBox 7"/>
          <p:cNvSpPr txBox="1"/>
          <p:nvPr/>
        </p:nvSpPr>
        <p:spPr>
          <a:xfrm>
            <a:off x="548640" y="5257800"/>
            <a:ext cx="11064240" cy="548640"/>
          </a:xfrm>
          <a:prstGeom prst="rect">
            <a:avLst/>
          </a:prstGeom>
          <a:noFill/>
        </p:spPr>
        <p:txBody>
          <a:bodyPr wrap="square">
            <a:spAutoFit/>
          </a:bodyPr>
          <a:lstStyle/>
          <a:p>
            <a:r>
              <a:rPr sz="1400" b="0">
                <a:solidFill>
                  <a:srgbClr val="555555"/>
                </a:solidFill>
                <a:latin typeface="Segoe UI"/>
              </a:rPr>
              <a:t>Exp B: P95 độ trễ hệ thống 1,78 s (1,76–1,80) ở 100, 4,25 s (4,07–4,54) ở 1.000, 38,08 s (37,92–38,40) ở 10.000 người học; ở 10.000 người học 0/3 run đạt SLO 5 s</a:t>
            </a:r>
          </a:p>
        </p:txBody>
      </p:sp>
      <p:sp>
        <p:nvSpPr>
          <p:cNvPr id="9" name="TextBox 8"/>
          <p:cNvSpPr txBox="1"/>
          <p:nvPr/>
        </p:nvSpPr>
        <p:spPr>
          <a:xfrm>
            <a:off x="548640" y="5715000"/>
            <a:ext cx="11064240" cy="548640"/>
          </a:xfrm>
          <a:prstGeom prst="rect">
            <a:avLst/>
          </a:prstGeom>
          <a:noFill/>
        </p:spPr>
        <p:txBody>
          <a:bodyPr wrap="square">
            <a:spAutoFit/>
          </a:bodyPr>
          <a:lstStyle/>
          <a:p>
            <a:r>
              <a:rPr sz="1400" b="0">
                <a:solidFill>
                  <a:srgbClr val="555555"/>
                </a:solidFill>
                <a:latin typeface="Segoe UI"/>
              </a:rPr>
              <a:t>Nhận định 'đạt SLO 5 s ở 1.000 ev/s với P = 3 hoặc 6' chỉ đúng cho các run 10 phút: chạy 30 phút (soak) thì cấu hình mặc định không giữ được SLO.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RQ3: watermark, độ đúng và công bằng</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TV1</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10</a:t>
            </a:r>
          </a:p>
        </p:txBody>
      </p:sp>
      <p:pic>
        <p:nvPicPr>
          <p:cNvPr id="6" name="Picture 5" descr="h4-watermark.png"/>
          <p:cNvPicPr>
            <a:picLocks noChangeAspect="1"/>
          </p:cNvPicPr>
          <p:nvPr/>
        </p:nvPicPr>
        <p:blipFill>
          <a:blip r:embed="rId3"/>
          <a:stretch>
            <a:fillRect/>
          </a:stretch>
        </p:blipFill>
        <p:spPr>
          <a:xfrm>
            <a:off x="548640" y="1143000"/>
            <a:ext cx="11064240" cy="3594425"/>
          </a:xfrm>
          <a:prstGeom prst="rect">
            <a:avLst/>
          </a:prstGeom>
        </p:spPr>
      </p:pic>
      <p:sp>
        <p:nvSpPr>
          <p:cNvPr id="7" name="TextBox 6"/>
          <p:cNvSpPr txBox="1"/>
          <p:nvPr/>
        </p:nvSpPr>
        <p:spPr>
          <a:xfrm>
            <a:off x="548640" y="5120640"/>
            <a:ext cx="11064240" cy="548640"/>
          </a:xfrm>
          <a:prstGeom prst="rect">
            <a:avLst/>
          </a:prstGeom>
          <a:noFill/>
        </p:spPr>
        <p:txBody>
          <a:bodyPr wrap="square">
            <a:spAutoFit/>
          </a:bodyPr>
          <a:lstStyle/>
          <a:p>
            <a:r>
              <a:rPr sz="1500" b="0">
                <a:solidFill>
                  <a:srgbClr val="555555"/>
                </a:solidFill>
                <a:latin typeface="Segoe UI"/>
              </a:rPr>
              <a:t>Khớp oracle (trễ high, W = 2 phút): eager 80,8% (80,2–80,8) · ordered 100,0% (100,0–100,0) · bị loại ở W = 30 s: cellular 8,64% (8,58–8,70), wifi 0,85% (0,82–0,86)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RQ2: gợi ý đúng, có ích, đủ nhanh</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TV2, TV4</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11</a:t>
            </a:r>
          </a:p>
        </p:txBody>
      </p:sp>
      <p:sp>
        <p:nvSpPr>
          <p:cNvPr id="6" name="TextBox 5"/>
          <p:cNvSpPr txBox="1"/>
          <p:nvPr/>
        </p:nvSpPr>
        <p:spPr>
          <a:xfrm>
            <a:off x="548640" y="1188720"/>
            <a:ext cx="5669280" cy="1463040"/>
          </a:xfrm>
          <a:prstGeom prst="rect">
            <a:avLst/>
          </a:prstGeom>
          <a:noFill/>
        </p:spPr>
        <p:txBody>
          <a:bodyPr wrap="square">
            <a:spAutoFit/>
          </a:bodyPr>
          <a:lstStyle/>
          <a:p>
            <a:pPr>
              <a:spcAft>
                <a:spcPts val="800"/>
              </a:spcAft>
            </a:pPr>
            <a:r>
              <a:rPr sz="1800" b="0">
                <a:solidFill>
                  <a:srgbClr val="222222"/>
                </a:solidFill>
                <a:latin typeface="Segoe UI"/>
              </a:rPr>
              <a:t>•  Audit gợi ý (hai thành viên nhóm chấm mù): [chưa có số liệu: summary.md]</a:t>
            </a:r>
          </a:p>
        </p:txBody>
      </p:sp>
      <p:graphicFrame>
        <p:nvGraphicFramePr>
          <p:cNvPr id="7" name="Table 6"/>
          <p:cNvGraphicFramePr>
            <a:graphicFrameLocks noGrp="1"/>
          </p:cNvGraphicFramePr>
          <p:nvPr/>
        </p:nvGraphicFramePr>
        <p:xfrm>
          <a:off x="6400800" y="1188720"/>
          <a:ext cx="5303520" cy="1920240"/>
        </p:xfrm>
        <a:graphic>
          <a:graphicData uri="http://schemas.openxmlformats.org/drawingml/2006/table">
            <a:tbl>
              <a:tblPr firstRow="1" bandRow="1">
                <a:tableStyleId>{5C22544A-7EE6-4342-B048-85BDC9FD1C3A}</a:tableStyleId>
              </a:tblPr>
              <a:tblGrid>
                <a:gridCol w="2651760"/>
                <a:gridCol w="2651760"/>
              </a:tblGrid>
              <a:tr h="384048">
                <a:tc>
                  <a:txBody>
                    <a:bodyPr/>
                    <a:lstStyle/>
                    <a:p>
                      <a:pPr>
                        <a:defRPr sz="1300" b="1">
                          <a:solidFill>
                            <a:srgbClr val="FFFFFF"/>
                          </a:solidFill>
                          <a:latin typeface="Segoe UI"/>
                        </a:defRPr>
                      </a:pPr>
                      <a:r>
                        <a:rPr sz="1300" b="1">
                          <a:solidFill>
                            <a:srgbClr val="FFFFFF"/>
                          </a:solidFill>
                          <a:latin typeface="Segoe UI"/>
                        </a:rPr>
                        <a:t>Người dùng</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P95 API</a:t>
                      </a:r>
                    </a:p>
                  </a:txBody>
                  <a:tcPr>
                    <a:solidFill>
                      <a:srgbClr val="1F3A5F"/>
                    </a:solidFill>
                  </a:tcPr>
                </a:tc>
              </a:tr>
              <a:tr h="384048">
                <a:tc>
                  <a:txBody>
                    <a:bodyPr/>
                    <a:lstStyle/>
                    <a:p>
                      <a:pPr>
                        <a:defRPr sz="1300" b="0">
                          <a:solidFill>
                            <a:srgbClr val="222222"/>
                          </a:solidFill>
                          <a:latin typeface="Segoe UI"/>
                        </a:defRPr>
                      </a:pPr>
                      <a:r>
                        <a:rPr sz="1300" b="0">
                          <a:solidFill>
                            <a:srgbClr val="222222"/>
                          </a:solidFill>
                          <a:latin typeface="Segoe UI"/>
                        </a:rPr>
                        <a:t>1</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6,86 ms (6,70–7,00)</a:t>
                      </a:r>
                    </a:p>
                  </a:txBody>
                  <a:tcPr>
                    <a:solidFill>
                      <a:srgbClr val="EEF2F8"/>
                    </a:solidFill>
                  </a:tcPr>
                </a:tc>
              </a:tr>
              <a:tr h="384048">
                <a:tc>
                  <a:txBody>
                    <a:bodyPr/>
                    <a:lstStyle/>
                    <a:p>
                      <a:pPr>
                        <a:defRPr sz="1300" b="0">
                          <a:solidFill>
                            <a:srgbClr val="222222"/>
                          </a:solidFill>
                          <a:latin typeface="Segoe UI"/>
                        </a:defRPr>
                      </a:pPr>
                      <a:r>
                        <a:rPr sz="1300" b="0">
                          <a:solidFill>
                            <a:srgbClr val="222222"/>
                          </a:solidFill>
                          <a:latin typeface="Segoe UI"/>
                        </a:rPr>
                        <a:t>10</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6,58 ms (6,48–6,89)</a:t>
                      </a:r>
                    </a:p>
                  </a:txBody>
                  <a:tcPr>
                    <a:solidFill>
                      <a:srgbClr val="FFFFFF"/>
                    </a:solidFill>
                  </a:tcPr>
                </a:tc>
              </a:tr>
              <a:tr h="384048">
                <a:tc>
                  <a:txBody>
                    <a:bodyPr/>
                    <a:lstStyle/>
                    <a:p>
                      <a:pPr>
                        <a:defRPr sz="1300" b="0">
                          <a:solidFill>
                            <a:srgbClr val="222222"/>
                          </a:solidFill>
                          <a:latin typeface="Segoe UI"/>
                        </a:defRPr>
                      </a:pPr>
                      <a:r>
                        <a:rPr sz="1300" b="0">
                          <a:solidFill>
                            <a:srgbClr val="222222"/>
                          </a:solidFill>
                          <a:latin typeface="Segoe UI"/>
                        </a:rPr>
                        <a:t>50</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6,03 ms (5,67–6,04)</a:t>
                      </a:r>
                    </a:p>
                  </a:txBody>
                  <a:tcPr>
                    <a:solidFill>
                      <a:srgbClr val="EEF2F8"/>
                    </a:solidFill>
                  </a:tcPr>
                </a:tc>
              </a:tr>
              <a:tr h="384048">
                <a:tc>
                  <a:txBody>
                    <a:bodyPr/>
                    <a:lstStyle/>
                    <a:p>
                      <a:pPr>
                        <a:defRPr sz="1300" b="0">
                          <a:solidFill>
                            <a:srgbClr val="222222"/>
                          </a:solidFill>
                          <a:latin typeface="Segoe UI"/>
                        </a:defRPr>
                      </a:pPr>
                      <a:r>
                        <a:rPr sz="1300" b="0">
                          <a:solidFill>
                            <a:srgbClr val="222222"/>
                          </a:solidFill>
                          <a:latin typeface="Segoe UI"/>
                        </a:rPr>
                        <a:t>100</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4,93 ms (4,93–5,42)</a:t>
                      </a:r>
                    </a:p>
                  </a:txBody>
                  <a:tcPr>
                    <a:solidFill>
                      <a:srgbClr val="FFFFFF"/>
                    </a:solidFill>
                  </a:tcPr>
                </a:tc>
              </a:tr>
            </a:tbl>
          </a:graphicData>
        </a:graphic>
      </p:graphicFrame>
      <p:pic>
        <p:nvPicPr>
          <p:cNvPr id="8" name="Picture 7" descr="h5-hints.png"/>
          <p:cNvPicPr>
            <a:picLocks noChangeAspect="1"/>
          </p:cNvPicPr>
          <p:nvPr/>
        </p:nvPicPr>
        <p:blipFill>
          <a:blip r:embed="rId3"/>
          <a:stretch>
            <a:fillRect/>
          </a:stretch>
        </p:blipFill>
        <p:spPr>
          <a:xfrm>
            <a:off x="548640" y="3429000"/>
            <a:ext cx="9601200" cy="288173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Ablation, chạy dài và trần ingestion</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TV1, TV4</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12</a:t>
            </a:r>
          </a:p>
        </p:txBody>
      </p:sp>
      <p:graphicFrame>
        <p:nvGraphicFramePr>
          <p:cNvPr id="6" name="Table 5"/>
          <p:cNvGraphicFramePr>
            <a:graphicFrameLocks noGrp="1"/>
          </p:cNvGraphicFramePr>
          <p:nvPr/>
        </p:nvGraphicFramePr>
        <p:xfrm>
          <a:off x="457200" y="1188720"/>
          <a:ext cx="6949438" cy="1920240"/>
        </p:xfrm>
        <a:graphic>
          <a:graphicData uri="http://schemas.openxmlformats.org/drawingml/2006/table">
            <a:tbl>
              <a:tblPr firstRow="1" bandRow="1">
                <a:tableStyleId>{5C22544A-7EE6-4342-B048-85BDC9FD1C3A}</a:tableStyleId>
              </a:tblPr>
              <a:tblGrid>
                <a:gridCol w="1323702"/>
                <a:gridCol w="1820091"/>
                <a:gridCol w="1820091"/>
                <a:gridCol w="1985554"/>
              </a:tblGrid>
              <a:tr h="384048">
                <a:tc>
                  <a:txBody>
                    <a:bodyPr/>
                    <a:lstStyle/>
                    <a:p>
                      <a:pPr>
                        <a:defRPr sz="1200" b="1">
                          <a:solidFill>
                            <a:srgbClr val="FFFFFF"/>
                          </a:solidFill>
                          <a:latin typeface="Segoe UI"/>
                        </a:defRPr>
                      </a:pPr>
                      <a:r>
                        <a:rPr sz="1200" b="1">
                          <a:solidFill>
                            <a:srgbClr val="FFFFFF"/>
                          </a:solidFill>
                          <a:latin typeface="Segoe UI"/>
                        </a:rPr>
                        <a:t>Biến thể</a:t>
                      </a:r>
                    </a:p>
                  </a:txBody>
                  <a:tcPr>
                    <a:solidFill>
                      <a:srgbClr val="1F3A5F"/>
                    </a:solidFill>
                  </a:tcPr>
                </a:tc>
                <a:tc>
                  <a:txBody>
                    <a:bodyPr/>
                    <a:lstStyle/>
                    <a:p>
                      <a:pPr>
                        <a:defRPr sz="1200" b="1">
                          <a:solidFill>
                            <a:srgbClr val="FFFFFF"/>
                          </a:solidFill>
                          <a:latin typeface="Segoe UI"/>
                        </a:defRPr>
                      </a:pPr>
                      <a:r>
                        <a:rPr sz="1200" b="1">
                          <a:solidFill>
                            <a:srgbClr val="FFFFFF"/>
                          </a:solidFill>
                          <a:latin typeface="Segoe UI"/>
                        </a:rPr>
                        <a:t>Khớp oracle</a:t>
                      </a:r>
                    </a:p>
                  </a:txBody>
                  <a:tcPr>
                    <a:solidFill>
                      <a:srgbClr val="1F3A5F"/>
                    </a:solidFill>
                  </a:tcPr>
                </a:tc>
                <a:tc>
                  <a:txBody>
                    <a:bodyPr/>
                    <a:lstStyle/>
                    <a:p>
                      <a:pPr>
                        <a:defRPr sz="1200" b="1">
                          <a:solidFill>
                            <a:srgbClr val="FFFFFF"/>
                          </a:solidFill>
                          <a:latin typeface="Segoe UI"/>
                        </a:defRPr>
                      </a:pPr>
                      <a:r>
                        <a:rPr sz="1200" b="1">
                          <a:solidFill>
                            <a:srgbClr val="FFFFFF"/>
                          </a:solidFill>
                          <a:latin typeface="Segoe UI"/>
                        </a:rPr>
                        <a:t>Recall bế tắc</a:t>
                      </a:r>
                    </a:p>
                  </a:txBody>
                  <a:tcPr>
                    <a:solidFill>
                      <a:srgbClr val="1F3A5F"/>
                    </a:solidFill>
                  </a:tcPr>
                </a:tc>
                <a:tc>
                  <a:txBody>
                    <a:bodyPr/>
                    <a:lstStyle/>
                    <a:p>
                      <a:pPr>
                        <a:defRPr sz="1200" b="1">
                          <a:solidFill>
                            <a:srgbClr val="FFFFFF"/>
                          </a:solidFill>
                          <a:latin typeface="Segoe UI"/>
                        </a:defRPr>
                      </a:pPr>
                      <a:r>
                        <a:rPr sz="1200" b="1">
                          <a:solidFill>
                            <a:srgbClr val="FFFFFF"/>
                          </a:solidFill>
                          <a:latin typeface="Segoe UI"/>
                        </a:rPr>
                        <a:t>P95 độ trễ</a:t>
                      </a:r>
                    </a:p>
                  </a:txBody>
                  <a:tcPr>
                    <a:solidFill>
                      <a:srgbClr val="1F3A5F"/>
                    </a:solidFill>
                  </a:tcPr>
                </a:tc>
              </a:tr>
              <a:tr h="384048">
                <a:tc>
                  <a:txBody>
                    <a:bodyPr/>
                    <a:lstStyle/>
                    <a:p>
                      <a:pPr>
                        <a:defRPr sz="1200" b="0">
                          <a:solidFill>
                            <a:srgbClr val="222222"/>
                          </a:solidFill>
                          <a:latin typeface="Segoe UI"/>
                        </a:defRPr>
                      </a:pPr>
                      <a:r>
                        <a:rPr sz="1200" b="0">
                          <a:solidFill>
                            <a:srgbClr val="222222"/>
                          </a:solidFill>
                          <a:latin typeface="Segoe UI"/>
                        </a:rPr>
                        <a:t>Mặc định</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93,1% (93,1–93,9)</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97,2% (96,7–97,5)</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4,25 s (4,07–4,54)</a:t>
                      </a:r>
                    </a:p>
                  </a:txBody>
                  <a:tcPr>
                    <a:solidFill>
                      <a:srgbClr val="EEF2F8"/>
                    </a:solidFill>
                  </a:tcPr>
                </a:tc>
              </a:tr>
              <a:tr h="384048">
                <a:tc>
                  <a:txBody>
                    <a:bodyPr/>
                    <a:lstStyle/>
                    <a:p>
                      <a:pPr>
                        <a:defRPr sz="1200" b="0">
                          <a:solidFill>
                            <a:srgbClr val="222222"/>
                          </a:solidFill>
                          <a:latin typeface="Segoe UI"/>
                        </a:defRPr>
                      </a:pPr>
                      <a:r>
                        <a:rPr sz="1200" b="0">
                          <a:solidFill>
                            <a:srgbClr val="222222"/>
                          </a:solidFill>
                          <a:latin typeface="Segoe UI"/>
                        </a:rPr>
                        <a:t>Tắt khử trùng</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21,1% (20,9–21,2)</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81,6% (80,9–83,7)</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4,63 s (4,52–4,65)</a:t>
                      </a:r>
                    </a:p>
                  </a:txBody>
                  <a:tcPr>
                    <a:solidFill>
                      <a:srgbClr val="FFFFFF"/>
                    </a:solidFill>
                  </a:tcPr>
                </a:tc>
              </a:tr>
              <a:tr h="384048">
                <a:tc>
                  <a:txBody>
                    <a:bodyPr/>
                    <a:lstStyle/>
                    <a:p>
                      <a:pPr>
                        <a:defRPr sz="1200" b="0">
                          <a:solidFill>
                            <a:srgbClr val="222222"/>
                          </a:solidFill>
                          <a:latin typeface="Segoe UI"/>
                        </a:defRPr>
                      </a:pPr>
                      <a:r>
                        <a:rPr sz="1200" b="0">
                          <a:solidFill>
                            <a:srgbClr val="222222"/>
                          </a:solidFill>
                          <a:latin typeface="Segoe UI"/>
                        </a:rPr>
                        <a:t>Ordered</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100,0% (100,0–100,0)</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99,6% (99,3–99,6)</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136,85 s (136,53–137,10)</a:t>
                      </a:r>
                    </a:p>
                  </a:txBody>
                  <a:tcPr>
                    <a:solidFill>
                      <a:srgbClr val="EEF2F8"/>
                    </a:solidFill>
                  </a:tcPr>
                </a:tc>
              </a:tr>
              <a:tr h="384048">
                <a:tc>
                  <a:txBody>
                    <a:bodyPr/>
                    <a:lstStyle/>
                    <a:p>
                      <a:pPr>
                        <a:defRPr sz="1200" b="0">
                          <a:solidFill>
                            <a:srgbClr val="222222"/>
                          </a:solidFill>
                          <a:latin typeface="Segoe UI"/>
                        </a:defRPr>
                      </a:pPr>
                      <a:r>
                        <a:rPr sz="1200" b="0">
                          <a:solidFill>
                            <a:srgbClr val="222222"/>
                          </a:solidFill>
                          <a:latin typeface="Segoe UI"/>
                        </a:rPr>
                        <a:t>BKT</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93,2% (93,1–93,8)</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96,7% (96,7–97,5)</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5,02 s (4,93–5,08)</a:t>
                      </a:r>
                    </a:p>
                  </a:txBody>
                  <a:tcPr>
                    <a:solidFill>
                      <a:srgbClr val="FFFFFF"/>
                    </a:solidFill>
                  </a:tcPr>
                </a:tc>
              </a:tr>
            </a:tbl>
          </a:graphicData>
        </a:graphic>
      </p:graphicFrame>
      <p:sp>
        <p:nvSpPr>
          <p:cNvPr id="7" name="TextBox 6"/>
          <p:cNvSpPr txBox="1"/>
          <p:nvPr/>
        </p:nvSpPr>
        <p:spPr>
          <a:xfrm>
            <a:off x="7589520" y="1188720"/>
            <a:ext cx="4297680" cy="5303520"/>
          </a:xfrm>
          <a:prstGeom prst="rect">
            <a:avLst/>
          </a:prstGeom>
          <a:noFill/>
        </p:spPr>
        <p:txBody>
          <a:bodyPr wrap="square">
            <a:spAutoFit/>
          </a:bodyPr>
          <a:lstStyle/>
          <a:p>
            <a:pPr>
              <a:spcAft>
                <a:spcPts val="800"/>
              </a:spcAft>
            </a:pPr>
            <a:r>
              <a:rPr sz="1400" b="0">
                <a:solidFill>
                  <a:srgbClr val="222222"/>
                </a:solidFill>
                <a:latin typeface="Segoe UI"/>
              </a:rPr>
              <a:t>•  Soak 30 phút (1 run): P95 5,04 s (n = 1), đạt SLO 0/1; 54,7% (n = 1) cửa sổ 1 phút vượt 5 s</a:t>
            </a:r>
          </a:p>
          <a:p>
            <a:pPr>
              <a:spcAft>
                <a:spcPts val="800"/>
              </a:spcAft>
            </a:pPr>
            <a:r>
              <a:rPr sz="1400" b="1">
                <a:solidFill>
                  <a:srgbClr val="C0612B"/>
                </a:solidFill>
                <a:latin typeface="Segoe UI"/>
              </a:rPr>
              <a:t>•  RSS driver tăng 1,73× (n = 1) (rủi ro, chưa rõ nguyên nhân)</a:t>
            </a:r>
          </a:p>
          <a:p>
            <a:pPr>
              <a:spcAft>
                <a:spcPts val="800"/>
              </a:spcAft>
            </a:pPr>
            <a:r>
              <a:rPr sz="1400" b="0">
                <a:solidFill>
                  <a:srgbClr val="222222"/>
                </a:solidFill>
                <a:latin typeface="Segoe UI"/>
              </a:rPr>
              <a:t>•  Trần ingestion: 6/6 ô giữ được tốc độ mục tiêu; cao nhất đạt 60.255 ev/s (mục tiêu 60.000 ev/s, 4 tiến trình gửi), nên trần nằm trên mức cao nhất đã thử (60.000 ev/s)</a:t>
            </a:r>
          </a:p>
        </p:txBody>
      </p:sp>
      <p:sp>
        <p:nvSpPr>
          <p:cNvPr id="8" name="TextBox 7"/>
          <p:cNvSpPr txBox="1"/>
          <p:nvPr/>
        </p:nvSpPr>
        <p:spPr>
          <a:xfrm>
            <a:off x="548640" y="5852160"/>
            <a:ext cx="11064240" cy="548640"/>
          </a:xfrm>
          <a:prstGeom prst="rect">
            <a:avLst/>
          </a:prstGeom>
          <a:noFill/>
        </p:spPr>
        <p:txBody>
          <a:bodyPr wrap="square">
            <a:spAutoFit/>
          </a:bodyPr>
          <a:lstStyle/>
          <a:p>
            <a:r>
              <a:rPr sz="1400" b="0">
                <a:solidFill>
                  <a:srgbClr val="555555"/>
                </a:solidFill>
                <a:latin typeface="Segoe UI"/>
              </a:rPr>
              <a:t>Nhận định 'đạt SLO 5 s ở 1.000 ev/s với P = 3 hoặc 6' chỉ đúng cho các run 10 phút: chạy 30 phút (soak) thì cấu hình mặc định không giữ được SLO.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MapReduce: quy mô × cấu hình tài nguyên</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TV3</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13</a:t>
            </a:r>
          </a:p>
        </p:txBody>
      </p:sp>
      <p:graphicFrame>
        <p:nvGraphicFramePr>
          <p:cNvPr id="6" name="Table 5"/>
          <p:cNvGraphicFramePr>
            <a:graphicFrameLocks noGrp="1"/>
          </p:cNvGraphicFramePr>
          <p:nvPr/>
        </p:nvGraphicFramePr>
        <p:xfrm>
          <a:off x="365760" y="1097280"/>
          <a:ext cx="6766559" cy="2304288"/>
        </p:xfrm>
        <a:graphic>
          <a:graphicData uri="http://schemas.openxmlformats.org/drawingml/2006/table">
            <a:tbl>
              <a:tblPr firstRow="1" bandRow="1">
                <a:tableStyleId>{5C22544A-7EE6-4342-B048-85BDC9FD1C3A}</a:tableStyleId>
              </a:tblPr>
              <a:tblGrid>
                <a:gridCol w="1208314"/>
                <a:gridCol w="1772194"/>
                <a:gridCol w="2255520"/>
                <a:gridCol w="1530531"/>
              </a:tblGrid>
              <a:tr h="329184">
                <a:tc>
                  <a:txBody>
                    <a:bodyPr/>
                    <a:lstStyle/>
                    <a:p>
                      <a:pPr>
                        <a:defRPr sz="1100" b="1">
                          <a:solidFill>
                            <a:srgbClr val="FFFFFF"/>
                          </a:solidFill>
                          <a:latin typeface="Segoe UI"/>
                        </a:defRPr>
                      </a:pPr>
                      <a:r>
                        <a:rPr sz="1100" b="1">
                          <a:solidFill>
                            <a:srgbClr val="FFFFFF"/>
                          </a:solidFill>
                          <a:latin typeface="Segoe UI"/>
                        </a:rPr>
                        <a:t>Người học · cấu hình</a:t>
                      </a:r>
                    </a:p>
                  </a:txBody>
                  <a:tcPr>
                    <a:solidFill>
                      <a:srgbClr val="1F3A5F"/>
                    </a:solidFill>
                  </a:tcPr>
                </a:tc>
                <a:tc>
                  <a:txBody>
                    <a:bodyPr/>
                    <a:lstStyle/>
                    <a:p>
                      <a:pPr>
                        <a:defRPr sz="1100" b="1">
                          <a:solidFill>
                            <a:srgbClr val="FFFFFF"/>
                          </a:solidFill>
                          <a:latin typeface="Segoe UI"/>
                        </a:defRPr>
                      </a:pPr>
                      <a:r>
                        <a:rPr sz="1100" b="1">
                          <a:solidFill>
                            <a:srgbClr val="FFFFFF"/>
                          </a:solidFill>
                          <a:latin typeface="Segoe UI"/>
                        </a:rPr>
                        <a:t>Thời gian job</a:t>
                      </a:r>
                    </a:p>
                  </a:txBody>
                  <a:tcPr>
                    <a:solidFill>
                      <a:srgbClr val="1F3A5F"/>
                    </a:solidFill>
                  </a:tcPr>
                </a:tc>
                <a:tc>
                  <a:txBody>
                    <a:bodyPr/>
                    <a:lstStyle/>
                    <a:p>
                      <a:pPr>
                        <a:defRPr sz="1100" b="1">
                          <a:solidFill>
                            <a:srgbClr val="FFFFFF"/>
                          </a:solidFill>
                          <a:latin typeface="Segoe UI"/>
                        </a:defRPr>
                      </a:pPr>
                      <a:r>
                        <a:rPr sz="1100" b="1">
                          <a:solidFill>
                            <a:srgbClr val="FFFFFF"/>
                          </a:solidFill>
                          <a:latin typeface="Segoe UI"/>
                        </a:rPr>
                        <a:t>Lần giao/s</a:t>
                      </a:r>
                    </a:p>
                  </a:txBody>
                  <a:tcPr>
                    <a:solidFill>
                      <a:srgbClr val="1F3A5F"/>
                    </a:solidFill>
                  </a:tcPr>
                </a:tc>
                <a:tc>
                  <a:txBody>
                    <a:bodyPr/>
                    <a:lstStyle/>
                    <a:p>
                      <a:pPr>
                        <a:defRPr sz="1100" b="1">
                          <a:solidFill>
                            <a:srgbClr val="FFFFFF"/>
                          </a:solidFill>
                          <a:latin typeface="Segoe UI"/>
                        </a:defRPr>
                      </a:pPr>
                      <a:r>
                        <a:rPr sz="1100" b="1">
                          <a:solidFill>
                            <a:srgbClr val="FFFFFF"/>
                          </a:solidFill>
                          <a:latin typeface="Segoe UI"/>
                        </a:rPr>
                        <a:t>A/B</a:t>
                      </a:r>
                    </a:p>
                  </a:txBody>
                  <a:tcPr>
                    <a:solidFill>
                      <a:srgbClr val="1F3A5F"/>
                    </a:solidFill>
                  </a:tcPr>
                </a:tc>
              </a:tr>
              <a:tr h="329184">
                <a:tc>
                  <a:txBody>
                    <a:bodyPr/>
                    <a:lstStyle/>
                    <a:p>
                      <a:pPr>
                        <a:defRPr sz="1100" b="0">
                          <a:solidFill>
                            <a:srgbClr val="222222"/>
                          </a:solidFill>
                          <a:latin typeface="Segoe UI"/>
                        </a:defRPr>
                      </a:pPr>
                      <a:r>
                        <a:rPr sz="1100" b="0">
                          <a:solidFill>
                            <a:srgbClr val="222222"/>
                          </a:solidFill>
                          <a:latin typeface="Segoe UI"/>
                        </a:rPr>
                        <a:t>100 · A</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3,04 s (3,02–3,21)</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4.100 (3.882–4.118)</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a:t>
                      </a:r>
                    </a:p>
                  </a:txBody>
                  <a:tcPr>
                    <a:solidFill>
                      <a:srgbClr val="EEF2F8"/>
                    </a:solidFill>
                  </a:tcPr>
                </a:tc>
              </a:tr>
              <a:tr h="329184">
                <a:tc>
                  <a:txBody>
                    <a:bodyPr/>
                    <a:lstStyle/>
                    <a:p>
                      <a:pPr>
                        <a:defRPr sz="1100" b="0">
                          <a:solidFill>
                            <a:srgbClr val="222222"/>
                          </a:solidFill>
                          <a:latin typeface="Segoe UI"/>
                        </a:defRPr>
                      </a:pPr>
                      <a:r>
                        <a:rPr sz="1100" b="0">
                          <a:solidFill>
                            <a:srgbClr val="222222"/>
                          </a:solidFill>
                          <a:latin typeface="Segoe UI"/>
                        </a:rPr>
                        <a:t>100 · B</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1,80 s (1,79–1,83)</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6.923 (6.806–6.943)</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1,69× (1,65–1,79)</a:t>
                      </a:r>
                    </a:p>
                  </a:txBody>
                  <a:tcPr>
                    <a:solidFill>
                      <a:srgbClr val="FFFFFF"/>
                    </a:solidFill>
                  </a:tcPr>
                </a:tc>
              </a:tr>
              <a:tr h="329184">
                <a:tc>
                  <a:txBody>
                    <a:bodyPr/>
                    <a:lstStyle/>
                    <a:p>
                      <a:pPr>
                        <a:defRPr sz="1100" b="0">
                          <a:solidFill>
                            <a:srgbClr val="222222"/>
                          </a:solidFill>
                          <a:latin typeface="Segoe UI"/>
                        </a:defRPr>
                      </a:pPr>
                      <a:r>
                        <a:rPr sz="1100" b="0">
                          <a:solidFill>
                            <a:srgbClr val="222222"/>
                          </a:solidFill>
                          <a:latin typeface="Segoe UI"/>
                        </a:rPr>
                        <a:t>1.000 · A</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3,98 s (3,97–4,01)</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31.490 (31.286–31.632)</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a:t>
                      </a:r>
                    </a:p>
                  </a:txBody>
                  <a:tcPr>
                    <a:solidFill>
                      <a:srgbClr val="EEF2F8"/>
                    </a:solidFill>
                  </a:tcPr>
                </a:tc>
              </a:tr>
              <a:tr h="329184">
                <a:tc>
                  <a:txBody>
                    <a:bodyPr/>
                    <a:lstStyle/>
                    <a:p>
                      <a:pPr>
                        <a:defRPr sz="1100" b="0">
                          <a:solidFill>
                            <a:srgbClr val="222222"/>
                          </a:solidFill>
                          <a:latin typeface="Segoe UI"/>
                        </a:defRPr>
                      </a:pPr>
                      <a:r>
                        <a:rPr sz="1100" b="0">
                          <a:solidFill>
                            <a:srgbClr val="222222"/>
                          </a:solidFill>
                          <a:latin typeface="Segoe UI"/>
                        </a:rPr>
                        <a:t>1.000 · B</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2,25 s (2,23–2,31)</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55.673 (54.370–56.146)</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1,77× (1,72–1,79)</a:t>
                      </a:r>
                    </a:p>
                  </a:txBody>
                  <a:tcPr>
                    <a:solidFill>
                      <a:srgbClr val="FFFFFF"/>
                    </a:solidFill>
                  </a:tcPr>
                </a:tc>
              </a:tr>
              <a:tr h="329184">
                <a:tc>
                  <a:txBody>
                    <a:bodyPr/>
                    <a:lstStyle/>
                    <a:p>
                      <a:pPr>
                        <a:defRPr sz="1100" b="0">
                          <a:solidFill>
                            <a:srgbClr val="222222"/>
                          </a:solidFill>
                          <a:latin typeface="Segoe UI"/>
                        </a:defRPr>
                      </a:pPr>
                      <a:r>
                        <a:rPr sz="1100" b="0">
                          <a:solidFill>
                            <a:srgbClr val="222222"/>
                          </a:solidFill>
                          <a:latin typeface="Segoe UI"/>
                        </a:rPr>
                        <a:t>10.000 · A</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15,10 s (15,04–15,16)</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83.241 (82.900–83.567)</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a:t>
                      </a:r>
                    </a:p>
                  </a:txBody>
                  <a:tcPr>
                    <a:solidFill>
                      <a:srgbClr val="EEF2F8"/>
                    </a:solidFill>
                  </a:tcPr>
                </a:tc>
              </a:tr>
              <a:tr h="329184">
                <a:tc>
                  <a:txBody>
                    <a:bodyPr/>
                    <a:lstStyle/>
                    <a:p>
                      <a:pPr>
                        <a:defRPr sz="1100" b="0">
                          <a:solidFill>
                            <a:srgbClr val="222222"/>
                          </a:solidFill>
                          <a:latin typeface="Segoe UI"/>
                        </a:defRPr>
                      </a:pPr>
                      <a:r>
                        <a:rPr sz="1100" b="0">
                          <a:solidFill>
                            <a:srgbClr val="222222"/>
                          </a:solidFill>
                          <a:latin typeface="Segoe UI"/>
                        </a:rPr>
                        <a:t>10.000 · B</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8,45 s (8,40–8,58)</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148.730 (146.476–149.633)</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1,79× (1,75–1,80)</a:t>
                      </a:r>
                    </a:p>
                  </a:txBody>
                  <a:tcPr>
                    <a:solidFill>
                      <a:srgbClr val="FFFFFF"/>
                    </a:solidFill>
                  </a:tcPr>
                </a:tc>
              </a:tr>
            </a:tbl>
          </a:graphicData>
        </a:graphic>
      </p:graphicFrame>
      <p:pic>
        <p:nvPicPr>
          <p:cNvPr id="7" name="Picture 6" descr="h6-mapreduce.png"/>
          <p:cNvPicPr>
            <a:picLocks noChangeAspect="1"/>
          </p:cNvPicPr>
          <p:nvPr/>
        </p:nvPicPr>
        <p:blipFill>
          <a:blip r:embed="rId3"/>
          <a:stretch>
            <a:fillRect/>
          </a:stretch>
        </p:blipFill>
        <p:spPr>
          <a:xfrm>
            <a:off x="7269480" y="1188720"/>
            <a:ext cx="4572000" cy="1652067"/>
          </a:xfrm>
          <a:prstGeom prst="rect">
            <a:avLst/>
          </a:prstGeom>
        </p:spPr>
      </p:pic>
      <p:sp>
        <p:nvSpPr>
          <p:cNvPr id="8" name="TextBox 7"/>
          <p:cNvSpPr txBox="1"/>
          <p:nvPr/>
        </p:nvSpPr>
        <p:spPr>
          <a:xfrm>
            <a:off x="548640" y="4526280"/>
            <a:ext cx="11064240" cy="1828800"/>
          </a:xfrm>
          <a:prstGeom prst="rect">
            <a:avLst/>
          </a:prstGeom>
          <a:noFill/>
        </p:spPr>
        <p:txBody>
          <a:bodyPr wrap="square">
            <a:spAutoFit/>
          </a:bodyPr>
          <a:lstStyle/>
          <a:p>
            <a:pPr>
              <a:spcAft>
                <a:spcPts val="800"/>
              </a:spcAft>
            </a:pPr>
            <a:r>
              <a:rPr sz="1400" b="0">
                <a:solidFill>
                  <a:srgbClr val="222222"/>
                </a:solidFill>
                <a:latin typeface="Segoe UI"/>
              </a:rPr>
              <a:t>•  Khớp bản tham chiếu tuần tự + manifest: 18/18 lần lặp; task lỗi 0, chạy lại 0</a:t>
            </a:r>
          </a:p>
          <a:p>
            <a:pPr>
              <a:spcAft>
                <a:spcPts val="800"/>
              </a:spcAft>
            </a:pPr>
            <a:r>
              <a:rPr sz="1400" b="0">
                <a:solidFill>
                  <a:srgbClr val="222222"/>
                </a:solidFill>
                <a:latin typeface="Segoe UI"/>
              </a:rPr>
              <a:t>•  CPU executor (10.000): A 208% (207–208), B 389% (385–410) → giới hạn bởi CPU; spill 0</a:t>
            </a:r>
          </a:p>
          <a:p>
            <a:pPr>
              <a:spcAft>
                <a:spcPts val="800"/>
              </a:spcAft>
            </a:pPr>
            <a:r>
              <a:rPr sz="1400" b="0">
                <a:solidFill>
                  <a:srgbClr val="222222"/>
                </a:solidFill>
                <a:latin typeface="Segoe UI"/>
              </a:rPr>
              <a:t>•  Shuffle ghi 133 MB (133–133); B đọc 133 MB (133–133) từ executor khác (loopback)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Quyền riêng tư và đạo đức</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14</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Không có dữ liệu người thật; learner_id = HMAC-SHA256 với salt bí mật, không lưu mã gốc</a:t>
            </a:r>
          </a:p>
          <a:p>
            <a:pPr>
              <a:spcAft>
                <a:spcPts val="800"/>
              </a:spcAft>
            </a:pPr>
            <a:r>
              <a:rPr sz="2100" b="0">
                <a:solidFill>
                  <a:srgbClr val="222222"/>
                </a:solidFill>
                <a:latin typeface="Segoe UI"/>
              </a:rPr>
              <a:t>•  Dashboard chỉ đọc số tổng hợp: &lt; 5 hiện '&lt;5', còn lại làm tròn tới bội số của 5</a:t>
            </a:r>
          </a:p>
          <a:p>
            <a:pPr>
              <a:spcAft>
                <a:spcPts val="800"/>
              </a:spcAft>
            </a:pPr>
            <a:r>
              <a:rPr sz="2100" b="0">
                <a:solidFill>
                  <a:srgbClr val="222222"/>
                </a:solidFill>
                <a:latin typeface="Segoe UI"/>
              </a:rPr>
              <a:t>•  Cảnh báo và learner_id chỉ ở chế độ giáo viên</a:t>
            </a:r>
          </a:p>
          <a:p>
            <a:pPr>
              <a:spcAft>
                <a:spcPts val="800"/>
              </a:spcAft>
            </a:pPr>
            <a:r>
              <a:rPr sz="2100" b="0">
                <a:solidFill>
                  <a:srgbClr val="222222"/>
                </a:solidFill>
                <a:latin typeface="Segoe UI"/>
              </a:rPr>
              <a:t>•  Kafka, Redis, API, dashboard chỉ nghe 127.0.0.1; Redis có mật khẩu</a:t>
            </a:r>
          </a:p>
          <a:p>
            <a:pPr>
              <a:spcAft>
                <a:spcPts val="800"/>
              </a:spcAft>
            </a:pPr>
            <a:r>
              <a:rPr sz="2100" b="0">
                <a:solidFill>
                  <a:srgbClr val="222222"/>
                </a:solidFill>
                <a:latin typeface="Segoe UI"/>
              </a:rPr>
              <a:t>•  Lát cắt wifi/cellular để thấy thiên lệch do xử lý sự kiện muộn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Hạn chế và các mối đe dọa tính hợp lệ</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15</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1800" b="0">
                <a:solidFill>
                  <a:srgbClr val="222222"/>
                </a:solidFill>
                <a:latin typeface="Segoe UI"/>
              </a:rPr>
              <a:t>•  Dữ liệu mô phỏng: cho thấy cơ chế, không đo hiệu quả học thật</a:t>
            </a:r>
          </a:p>
          <a:p>
            <a:pPr>
              <a:spcAft>
                <a:spcPts val="800"/>
              </a:spcAft>
            </a:pPr>
            <a:r>
              <a:rPr sz="1800" b="0">
                <a:solidFill>
                  <a:srgbClr val="222222"/>
                </a:solidFill>
                <a:latin typeface="Segoe UI"/>
              </a:rPr>
              <a:t>•  Một máy: đo song song hóa, không đo phân tán; 3 seed → không kiểm định</a:t>
            </a:r>
          </a:p>
          <a:p>
            <a:pPr>
              <a:spcAft>
                <a:spcPts val="800"/>
              </a:spcAft>
            </a:pPr>
            <a:r>
              <a:rPr sz="1800" b="0">
                <a:solidFill>
                  <a:srgbClr val="222222"/>
                </a:solidFill>
                <a:latin typeface="Segoe UI"/>
              </a:rPr>
              <a:t>•  Run 600 s; soak chỉ 1 run: SLO ở tải mặc định chưa giữ được khi chạy dài</a:t>
            </a:r>
          </a:p>
          <a:p>
            <a:pPr>
              <a:spcAft>
                <a:spcPts val="800"/>
              </a:spcAft>
            </a:pPr>
            <a:r>
              <a:rPr sz="1800" b="0">
                <a:solidFill>
                  <a:srgbClr val="222222"/>
                </a:solidFill>
                <a:latin typeface="Segoe UI"/>
              </a:rPr>
              <a:t>•  MapReduce: local-cluster trên một máy, shuffle qua loopback, không Hadoop/HDFS/YARN</a:t>
            </a:r>
          </a:p>
          <a:p>
            <a:pPr>
              <a:spcAft>
                <a:spcPts val="800"/>
              </a:spcAft>
            </a:pPr>
            <a:r>
              <a:rPr sz="1800" b="0">
                <a:solidFill>
                  <a:srgbClr val="222222"/>
                </a:solidFill>
                <a:latin typeface="Segoe UI"/>
              </a:rPr>
              <a:t>•  Chấm mù có giới hạn: mã bài tương tự và dạng bước □ để lộ bộ sinh ladder</a:t>
            </a:r>
          </a:p>
          <a:p>
            <a:pPr>
              <a:spcAft>
                <a:spcPts val="800"/>
              </a:spcAft>
            </a:pPr>
            <a:r>
              <a:rPr sz="1800" b="0">
                <a:solidFill>
                  <a:srgbClr val="222222"/>
                </a:solidFill>
                <a:latin typeface="Segoe UI"/>
              </a:rPr>
              <a:t>•  Bậc 3 bị khóa đổi sang dạng bước sau vòng hiệu chỉnh (commit 884280f)</a:t>
            </a:r>
          </a:p>
          <a:p>
            <a:pPr>
              <a:spcAft>
                <a:spcPts val="800"/>
              </a:spcAft>
            </a:pPr>
            <a:r>
              <a:rPr sz="1800" b="0">
                <a:solidFill>
                  <a:srgbClr val="222222"/>
                </a:solidFill>
                <a:latin typeface="Segoe UI"/>
              </a:rPr>
              <a:t>•  2 run đầu chạy nhầm kho bài mini: giữ trong runs.jsonl, không dùng</a:t>
            </a:r>
          </a:p>
          <a:p>
            <a:pPr>
              <a:spcAft>
                <a:spcPts val="800"/>
              </a:spcAft>
            </a:pPr>
            <a:r>
              <a:rPr sz="1800" b="0">
                <a:solidFill>
                  <a:srgbClr val="222222"/>
                </a:solidFill>
                <a:latin typeface="Segoe UI"/>
              </a:rPr>
              <a:t>•  Landis–Koch chỉ là quy ước diễn giải κ</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Demo</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TV5</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16</a:t>
            </a:r>
          </a:p>
        </p:txBody>
      </p:sp>
      <p:sp>
        <p:nvSpPr>
          <p:cNvPr id="6" name="Rounded Rectangle 5"/>
          <p:cNvSpPr/>
          <p:nvPr/>
        </p:nvSpPr>
        <p:spPr>
          <a:xfrm>
            <a:off x="457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1</a:t>
            </a:r>
          </a:p>
        </p:txBody>
      </p:sp>
      <p:sp>
        <p:nvSpPr>
          <p:cNvPr id="7" name="Rounded Rectangle 6"/>
          <p:cNvSpPr/>
          <p:nvPr/>
        </p:nvSpPr>
        <p:spPr>
          <a:xfrm>
            <a:off x="457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make up</a:t>
            </a:r>
          </a:p>
          <a:p>
            <a:pPr algn="ctr"/>
            <a:r>
              <a:rPr sz="1500" b="0">
                <a:solidFill>
                  <a:srgbClr val="222222"/>
                </a:solidFill>
                <a:latin typeface="Segoe UI"/>
              </a:rPr>
              <a:t>Kafka + Redis</a:t>
            </a:r>
          </a:p>
        </p:txBody>
      </p:sp>
      <p:sp>
        <p:nvSpPr>
          <p:cNvPr id="8" name="Rounded Rectangle 7"/>
          <p:cNvSpPr/>
          <p:nvPr/>
        </p:nvSpPr>
        <p:spPr>
          <a:xfrm>
            <a:off x="2743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2</a:t>
            </a:r>
          </a:p>
        </p:txBody>
      </p:sp>
      <p:sp>
        <p:nvSpPr>
          <p:cNvPr id="9" name="Rounded Rectangle 8"/>
          <p:cNvSpPr/>
          <p:nvPr/>
        </p:nvSpPr>
        <p:spPr>
          <a:xfrm>
            <a:off x="2743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make stream</a:t>
            </a:r>
          </a:p>
          <a:p>
            <a:pPr algn="ctr"/>
            <a:r>
              <a:rPr sz="1500" b="0">
                <a:solidFill>
                  <a:srgbClr val="222222"/>
                </a:solidFill>
                <a:latin typeface="Segoe UI"/>
              </a:rPr>
              <a:t>Spark job</a:t>
            </a:r>
          </a:p>
        </p:txBody>
      </p:sp>
      <p:sp>
        <p:nvSpPr>
          <p:cNvPr id="10" name="Rounded Rectangle 9"/>
          <p:cNvSpPr/>
          <p:nvPr/>
        </p:nvSpPr>
        <p:spPr>
          <a:xfrm>
            <a:off x="5029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3</a:t>
            </a:r>
          </a:p>
        </p:txBody>
      </p:sp>
      <p:sp>
        <p:nvSpPr>
          <p:cNvPr id="11" name="Rounded Rectangle 10"/>
          <p:cNvSpPr/>
          <p:nvPr/>
        </p:nvSpPr>
        <p:spPr>
          <a:xfrm>
            <a:off x="5029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make replay</a:t>
            </a:r>
          </a:p>
          <a:p>
            <a:pPr algn="ctr"/>
            <a:r>
              <a:rPr sz="1500" b="0">
                <a:solidFill>
                  <a:srgbClr val="222222"/>
                </a:solidFill>
                <a:latin typeface="Segoe UI"/>
              </a:rPr>
              <a:t>phát sự kiện</a:t>
            </a:r>
          </a:p>
        </p:txBody>
      </p:sp>
      <p:sp>
        <p:nvSpPr>
          <p:cNvPr id="12" name="Rounded Rectangle 11"/>
          <p:cNvSpPr/>
          <p:nvPr/>
        </p:nvSpPr>
        <p:spPr>
          <a:xfrm>
            <a:off x="7315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4</a:t>
            </a:r>
          </a:p>
        </p:txBody>
      </p:sp>
      <p:sp>
        <p:nvSpPr>
          <p:cNvPr id="13" name="Rounded Rectangle 12"/>
          <p:cNvSpPr/>
          <p:nvPr/>
        </p:nvSpPr>
        <p:spPr>
          <a:xfrm>
            <a:off x="7315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Dashboard</a:t>
            </a:r>
          </a:p>
          <a:p>
            <a:pPr algn="ctr"/>
            <a:r>
              <a:rPr sz="1500" b="0">
                <a:solidFill>
                  <a:srgbClr val="222222"/>
                </a:solidFill>
                <a:latin typeface="Segoe UI"/>
              </a:rPr>
              <a:t>cảnh báo bế tắc</a:t>
            </a:r>
          </a:p>
        </p:txBody>
      </p:sp>
      <p:sp>
        <p:nvSpPr>
          <p:cNvPr id="14" name="Rounded Rectangle 13"/>
          <p:cNvSpPr/>
          <p:nvPr/>
        </p:nvSpPr>
        <p:spPr>
          <a:xfrm>
            <a:off x="9601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5</a:t>
            </a:r>
          </a:p>
        </p:txBody>
      </p:sp>
      <p:sp>
        <p:nvSpPr>
          <p:cNvPr id="15" name="Rounded Rectangle 14"/>
          <p:cNvSpPr/>
          <p:nvPr/>
        </p:nvSpPr>
        <p:spPr>
          <a:xfrm>
            <a:off x="9601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POST /hints</a:t>
            </a:r>
          </a:p>
          <a:p>
            <a:pPr algn="ctr"/>
            <a:r>
              <a:rPr sz="1500" b="0">
                <a:solidFill>
                  <a:srgbClr val="222222"/>
                </a:solidFill>
                <a:latin typeface="Segoe UI"/>
              </a:rPr>
              <a:t>gợi ý đã kiểm</a:t>
            </a:r>
          </a:p>
        </p:txBody>
      </p:sp>
      <p:sp>
        <p:nvSpPr>
          <p:cNvPr id="16" name="TextBox 15"/>
          <p:cNvSpPr txBox="1"/>
          <p:nvPr/>
        </p:nvSpPr>
        <p:spPr>
          <a:xfrm>
            <a:off x="548640" y="3657600"/>
            <a:ext cx="11064240" cy="2286000"/>
          </a:xfrm>
          <a:prstGeom prst="rect">
            <a:avLst/>
          </a:prstGeom>
          <a:noFill/>
        </p:spPr>
        <p:txBody>
          <a:bodyPr wrap="square">
            <a:spAutoFit/>
          </a:bodyPr>
          <a:lstStyle/>
          <a:p>
            <a:pPr>
              <a:spcAft>
                <a:spcPts val="800"/>
              </a:spcAft>
            </a:pPr>
            <a:r>
              <a:rPr sz="1900" b="0">
                <a:solidFill>
                  <a:srgbClr val="222222"/>
                </a:solidFill>
                <a:latin typeface="Segoe UI"/>
              </a:rPr>
              <a:t>•  Theo một người học: sai liên tiếp → cảnh báo bế tắc trên dashboard → xin gợi ý bậc 1 → 2 → 3</a:t>
            </a:r>
          </a:p>
          <a:p>
            <a:pPr>
              <a:spcAft>
                <a:spcPts val="800"/>
              </a:spcAft>
            </a:pPr>
            <a:r>
              <a:rPr sz="1900" b="0">
                <a:solidFill>
                  <a:srgbClr val="222222"/>
                </a:solidFill>
                <a:latin typeface="Segoe UI"/>
              </a:rPr>
              <a:t>•  Dự phòng: phát lại từ events.parquet đã ghi nếu Docker lỗi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Kết luận</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17</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1700" b="0">
                <a:solidFill>
                  <a:srgbClr val="222222"/>
                </a:solidFill>
                <a:latin typeface="Segoe UI"/>
              </a:rPr>
              <a:t>•  RQ1: phát hiện bế tắc từ 62.947 s (61.267–80.977) (batch ngày) xuống 3,84 s (3,81–4,03) (streaming)</a:t>
            </a:r>
          </a:p>
          <a:p>
            <a:pPr>
              <a:spcAft>
                <a:spcPts val="800"/>
              </a:spcAft>
            </a:pPr>
            <a:r>
              <a:rPr sz="1700" b="0">
                <a:solidFill>
                  <a:srgbClr val="222222"/>
                </a:solidFill>
                <a:latin typeface="Segoe UI"/>
              </a:rPr>
              <a:t>•  RQ2: hint validity [chưa có số liệu: summary.md]; P95 API 4,9 ms (4,9–5,4) ở 100 người dùng</a:t>
            </a:r>
          </a:p>
          <a:p>
            <a:pPr>
              <a:spcAft>
                <a:spcPts val="800"/>
              </a:spcAft>
            </a:pPr>
            <a:r>
              <a:rPr sz="1700" b="0">
                <a:solidFill>
                  <a:srgbClr val="222222"/>
                </a:solidFill>
                <a:latin typeface="Segoe UI"/>
              </a:rPr>
              <a:t>•  RQ3: khớp oracle eager 80,8% (80,2–80,8) / ordered 100,0% (100,0–100,0); bị loại cellular 8,64% (8,58–8,70) / wifi 0,85% (0,82–0,86)</a:t>
            </a:r>
          </a:p>
          <a:p>
            <a:pPr>
              <a:spcAft>
                <a:spcPts val="800"/>
              </a:spcAft>
            </a:pPr>
            <a:r>
              <a:rPr sz="1700" b="0">
                <a:solidFill>
                  <a:srgbClr val="222222"/>
                </a:solidFill>
                <a:latin typeface="Segoe UI"/>
              </a:rPr>
              <a:t>•  P95 ở 1K ev/s: 4,25 s (4,07–4,54) (SLO 5 s) trong run 10 phút; soak 30 phút: 5,04 s (n = 1), RSS tăng 1,73× (n = 1)</a:t>
            </a:r>
          </a:p>
          <a:p>
            <a:pPr>
              <a:spcAft>
                <a:spcPts val="800"/>
              </a:spcAft>
            </a:pPr>
            <a:r>
              <a:rPr sz="1700" b="0">
                <a:solidFill>
                  <a:srgbClr val="222222"/>
                </a:solidFill>
                <a:latin typeface="Segoe UI"/>
              </a:rPr>
              <a:t>•  MapReduce: A/B = 1,79× (1,75–1,80) ở 10.000 người học; khớp tham chiếu 18/18 lần lặp</a:t>
            </a:r>
          </a:p>
          <a:p>
            <a:pPr>
              <a:spcAft>
                <a:spcPts val="800"/>
              </a:spcAft>
            </a:pPr>
            <a:r>
              <a:rPr sz="1700" b="0">
                <a:solidFill>
                  <a:srgbClr val="222222"/>
                </a:solidFill>
                <a:latin typeface="Segoe UI"/>
              </a:rPr>
              <a:t>•  Bàn giao: mã có kiểm thử, ma trận máy đọc, kết quả thô chỉ ghi nối, script sinh hình/báo cáo/slide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645920"/>
          </a:xfrm>
          <a:prstGeom prst="rect">
            <a:avLst/>
          </a:prstGeom>
          <a:noFill/>
        </p:spPr>
        <p:txBody>
          <a:bodyPr wrap="square">
            <a:spAutoFit/>
          </a:bodyPr>
          <a:lstStyle/>
          <a:p>
            <a:r>
              <a:rPr sz="3400" b="1">
                <a:solidFill>
                  <a:srgbClr val="FFFFFF"/>
                </a:solidFill>
                <a:latin typeface="Segoe UI"/>
              </a:rPr>
              <a:t>Cảm ơn thầy và các bạn đã lắng nghe</a:t>
            </a:r>
          </a:p>
        </p:txBody>
      </p:sp>
      <p:sp>
        <p:nvSpPr>
          <p:cNvPr id="4" name="TextBox 3"/>
          <p:cNvSpPr txBox="1"/>
          <p:nvPr/>
        </p:nvSpPr>
        <p:spPr>
          <a:xfrm>
            <a:off x="731520" y="3566160"/>
            <a:ext cx="10698480" cy="914400"/>
          </a:xfrm>
          <a:prstGeom prst="rect">
            <a:avLst/>
          </a:prstGeom>
          <a:noFill/>
        </p:spPr>
        <p:txBody>
          <a:bodyPr wrap="square">
            <a:spAutoFit/>
          </a:bodyPr>
          <a:lstStyle/>
          <a:p>
            <a:r>
              <a:rPr sz="2000" b="0">
                <a:solidFill>
                  <a:srgbClr val="DDE6F2"/>
                </a:solidFill>
                <a:latin typeface="Segoe UI"/>
              </a:rPr>
              <a:t>Hỏi &amp; đáp</a:t>
            </a:r>
          </a:p>
        </p:txBody>
      </p:sp>
      <p:sp>
        <p:nvSpPr>
          <p:cNvPr id="5" name="TextBox 4"/>
          <p:cNvSpPr txBox="1"/>
          <p:nvPr/>
        </p:nvSpPr>
        <p:spPr>
          <a:xfrm>
            <a:off x="731520" y="5669280"/>
            <a:ext cx="10698480" cy="548640"/>
          </a:xfrm>
          <a:prstGeom prst="rect">
            <a:avLst/>
          </a:prstGeom>
          <a:noFill/>
        </p:spPr>
        <p:txBody>
          <a:bodyPr wrap="square">
            <a:spAutoFit/>
          </a:bodyPr>
          <a:lstStyle/>
          <a:p>
            <a:r>
              <a:rPr sz="1400" b="0">
                <a:solidFill>
                  <a:srgbClr val="DDE6F2"/>
                </a:solidFill>
                <a:latin typeface="Segoe UI"/>
              </a:rPr>
              <a:t>Mã nguồn và lệnh tái lập: README, docs/huong-dan-chay-code.md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